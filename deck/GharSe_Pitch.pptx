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02d1d3-81d7-d83d-a8ee-83748479e23e}">
          <p14:sldIdLst>
            <p14:sldId id="256"/>
          </p14:sldIdLst>
        </p14:section>
        <p14:section name="Problem" id="{d9a647a5-278d-c5af-a56f-319074fba378}">
          <p14:sldIdLst>
            <p14:sldId id="257"/>
            <p14:sldId id="258"/>
            <p14:sldId id="259"/>
          </p14:sldIdLst>
        </p14:section>
        <p14:section name="Solution" id="{f45cda2e-ce28-a4e5-acd7-61505af7a525}">
          <p14:sldIdLst>
            <p14:sldId id="260"/>
            <p14:sldId id="261"/>
            <p14:sldId id="262"/>
          </p14:sldIdLst>
        </p14:section>
        <p14:section name="Business" id="{970dd487-94dc-eef3-f6eb-01b2d99d8bea}">
          <p14:sldIdLst>
            <p14:sldId id="263"/>
            <p14:sldId id="264"/>
          </p14:sldIdLst>
        </p14:section>
        <p14:section name="Plan" id="{dfbb834d-1852-3c66-babc-5d3db9d7c794}">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Adarsh Kumar from team Clo, and this is GharSe. Ghar se means 'from home'.
We help home food makers take a product from their kitchen to a store shelf.
We're building for Problem 6.3 in the Agentic AI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a home pickle maker in Ghaziabad. This is an illustrative story, not a real person.
Her pickle sells out in her lane, but every store and marketplace asks for the same three things: a proper label, a batch number, and FSSAI registration.
She has none of them in a form a buyer trusts, so she stays local. Worse, she often sells below her real cost and has no way to know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one woman. When the government approved the PMFME scheme, it estimated about 25 lakh unregistered food processing units: 98 percent of the sector.
Two thirds are rural, and four in five are family-run, just like our maker.
And the demand to formalise is real: PMFME has already supported around 1.96 lakh micro food enterprises. The government is pushing this; the gap is the last mile.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steps is hard on its own. The problem is that there are four of them, spread across English forms and regulation PDFs.
Which registration? How do you order ingredients on a label? Does your price even cover your cost? Which batch went where?
Consultants do the registration and leave. Design tools don't know the rules. Billing apps ignore compliance. Nobody connects the steps, in Hindi, by 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GharSe is an AI agent that lives where she already is: WhatsApp, in Hindi.
She sends a voice note or a photo of her handwritten recipe. That's the whole interface.
Out come six things: her true cost and minimum price, a draft FSSAI-format label, batch records she keeps by voice, a registration checklist, a marketplace listing pack, and nudges when something needs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makes it an agent, not a form. For every product, GharSe tracks five steps: recipe, costing, label, registration and listing.
It works out the next missing step itself and asks only for that, one short question at a time, in everyday Hindi.
Here she says '2 katori mirchi'. GharSe converts it, then asks her to confirm. Then it spots that her price is below her cost and suggests a minimum. These numbers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labels and prices have to be right, so we split the work. The AI understands her and asks questions. It never does the maths: costing, unit conversion, nutrition from the Indian Food Composition Tables, and batch numbers all live in plain code with unit tests.
It never invents a rule either. Every FSSAI rule is a data entry with its regulation and clause, so when the rules change, we update data, not prompts.
And a person signs off on every label and every cost. Certifying food safety stays with the authorities and accredited labs.
It's built for voice, slow networks and cheap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the money in three directions.
Sellers get one product free. For 99 rupees a month, less than one jar of achaar, they get unlimited products and print-ready label packs. We'll test that price in our interviews.
The big one is buyers. Retailers, ONDC seller apps and marketplaces all struggle to find small suppliers whose paperwork is in order. We bring them those producers, paid per lead or by subscription.
And partners like label printers and testing labs pay referral fees.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 narrow: home food sellers in Delhi NCR, whom we can reach through Instagram and WhatsApp seller groups, and meet in person.
To scale, we go through the institutions that already run formalisation programmes: SHG federations, state rural livelihood missions and food processing training institutes.
Why now? FSSAI simplified registration for small businesses this year, and ONDC is opening e-commerce to small sellers. The door is open. Sellers need help walking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we are: the prototype is in build, with a WhatsApp-style chat, a tested maths core and two fully worked demo products.
In November we interview 20 home food sellers in NCR to test the flow and our price. In December we show the full flow live: one voice note to a label, a costing, a batch, a checklist and a listing in under three minutes.
Then a six-month pilot with 50 sellers. We'll judge it on one thing: at least 25 of them with a compliant label and a sale beyond their town.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home kitchen in India can be a brand. The paperwork shouldn't be the reason it isn't.
We're looking for pilot partners: SHG federations, retail buyers and ONDC seller apps, and for mentors who know food regulation.
Thank you. We'd love to show you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9E2B25"/>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BF7F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rtlCol="0"/>
          <a:lstStyle>
            <a:lvl1pPr algn="l" indent="0" marL="0">
              <a:buNone/>
              <a:defRPr lang="en-US" sz="3800" dirty="0">
                <a:solidFill>
                  <a:schemeClr val="tx1"/>
                </a:solidFill>
              </a:defRPr>
            </a:lvl1pPr>
          </a:lstStyle>
          <a:p>
            <a:pPr algn="l" indent="0" marL="0">
              <a:buNone/>
            </a:pPr>
            <a:endParaRPr lang="en-US" sz="3800" dirty="0"/>
          </a:p>
        </p:txBody>
      </p:sp>
      <p:sp>
        <p:nvSpPr>
          <p:cNvPr id="3" name="Text 0"/>
          <p:cNvSpPr/>
          <p:nvPr/>
        </p:nvSpPr>
        <p:spPr>
          <a:xfrm>
            <a:off x="548640" y="6382512"/>
            <a:ext cx="1828800" cy="292608"/>
          </a:xfrm>
          <a:prstGeom prst="rect">
            <a:avLst/>
          </a:prstGeom>
          <a:noFill/>
          <a:ln/>
        </p:spPr>
        <p:txBody>
          <a:bodyPr wrap="square" lIns="0" tIns="0" rIns="0" bIns="0" rtlCol="0" anchor="ctr"/>
          <a:lstStyle/>
          <a:p>
            <a:pPr indent="0" marL="0">
              <a:buNone/>
            </a:pPr>
            <a:r>
              <a:rPr lang="en-US" sz="1400" dirty="0">
                <a:solidFill>
                  <a:schemeClr val="tx2"/>
                </a:solidFill>
                <a:latin typeface="+mj-lt" pitchFamily="34" charset="0"/>
                <a:ea typeface="+mj-lt" pitchFamily="34" charset="-122"/>
                <a:cs typeface="+mj-lt" pitchFamily="34" charset="-120"/>
              </a:rPr>
              <a:t>GharSe</a:t>
            </a:r>
            <a:endParaRPr lang="en-US" sz="14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9E2B25"/>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3.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1"/>
          <p:cNvSpPr txBox="1"/>
          <p:nvPr/>
        </p:nvSpPr>
        <p:spPr>
          <a:xfrm>
            <a:off x="640080" y="1051560"/>
            <a:ext cx="6949440" cy="1371600"/>
          </a:xfrm>
          <a:prstGeom prst="rect">
            <a:avLst/>
          </a:prstGeom>
          <a:noFill/>
          <a:ln/>
        </p:spPr>
        <p:txBody>
          <a:bodyPr wrap="square" lIns="0" tIns="0" rIns="0" bIns="0" rtlCol="0" anchor="ctr"/>
          <a:lstStyle/>
          <a:p>
            <a:pPr indent="0" marL="0">
              <a:buNone/>
            </a:pPr>
            <a:r>
              <a:rPr lang="en-US" sz="9600" dirty="0">
                <a:solidFill>
                  <a:schemeClr val="bg2"/>
                </a:solidFill>
                <a:latin typeface="+mj-lt" pitchFamily="34" charset="0"/>
                <a:ea typeface="+mj-lt" pitchFamily="34" charset="-122"/>
                <a:cs typeface="+mj-lt" pitchFamily="34" charset="-120"/>
              </a:rPr>
              <a:t>Ghar</a:t>
            </a:r>
            <a:pPr indent="0" marL="0">
              <a:buNone/>
            </a:pPr>
            <a:r>
              <a:rPr lang="en-US" sz="9600" dirty="0">
                <a:solidFill>
                  <a:schemeClr val="accent2"/>
                </a:solidFill>
                <a:latin typeface="+mj-lt" pitchFamily="34" charset="0"/>
                <a:ea typeface="+mj-lt" pitchFamily="34" charset="-122"/>
                <a:cs typeface="+mj-lt" pitchFamily="34" charset="-120"/>
              </a:rPr>
              <a:t>Se</a:t>
            </a:r>
            <a:endParaRPr lang="en-US" sz="9600" dirty="0"/>
          </a:p>
        </p:txBody>
      </p:sp>
      <p:sp>
        <p:nvSpPr>
          <p:cNvPr id="3" name="text-2"/>
          <p:cNvSpPr txBox="1"/>
          <p:nvPr/>
        </p:nvSpPr>
        <p:spPr>
          <a:xfrm>
            <a:off x="640080" y="2514600"/>
            <a:ext cx="6949440" cy="1325880"/>
          </a:xfrm>
          <a:prstGeom prst="rect">
            <a:avLst/>
          </a:prstGeom>
          <a:noFill/>
          <a:ln/>
        </p:spPr>
        <p:txBody>
          <a:bodyPr wrap="square" lIns="0" tIns="0" rIns="0" bIns="0" rtlCol="0" anchor="t"/>
          <a:lstStyle/>
          <a:p>
            <a:pPr indent="0" marL="0">
              <a:buNone/>
            </a:pPr>
            <a:r>
              <a:rPr lang="en-US" sz="4000" i="1" dirty="0">
                <a:solidFill>
                  <a:schemeClr val="bg2"/>
                </a:solidFill>
                <a:latin typeface="+mj-lt" pitchFamily="34" charset="0"/>
                <a:ea typeface="+mj-lt" pitchFamily="34" charset="-122"/>
                <a:cs typeface="+mj-lt" pitchFamily="34" charset="-120"/>
              </a:rPr>
              <a:t>From home kitchen</a:t>
            </a:r>
            <a:endParaRPr lang="en-US" sz="4000" dirty="0"/>
          </a:p>
          <a:p>
            <a:pPr indent="0" marL="0">
              <a:buNone/>
            </a:pPr>
            <a:r>
              <a:rPr lang="en-US" sz="4000" i="1" dirty="0">
                <a:solidFill>
                  <a:schemeClr val="bg2"/>
                </a:solidFill>
                <a:latin typeface="+mj-lt" pitchFamily="34" charset="0"/>
                <a:ea typeface="+mj-lt" pitchFamily="34" charset="-122"/>
                <a:cs typeface="+mj-lt" pitchFamily="34" charset="-120"/>
              </a:rPr>
              <a:t>to store shelf</a:t>
            </a:r>
            <a:endParaRPr lang="en-US" sz="4000" dirty="0"/>
          </a:p>
        </p:txBody>
      </p:sp>
      <p:sp>
        <p:nvSpPr>
          <p:cNvPr id="4" name="text-3"/>
          <p:cNvSpPr txBox="1"/>
          <p:nvPr/>
        </p:nvSpPr>
        <p:spPr>
          <a:xfrm>
            <a:off x="640080" y="4114800"/>
            <a:ext cx="6949440" cy="777240"/>
          </a:xfrm>
          <a:prstGeom prst="rect">
            <a:avLst/>
          </a:prstGeom>
          <a:noFill/>
          <a:ln/>
        </p:spPr>
        <p:txBody>
          <a:bodyPr wrap="square" lIns="0" tIns="0" rIns="0" bIns="0" rtlCol="0" anchor="t"/>
          <a:lstStyle/>
          <a:p>
            <a:pPr indent="0" marL="0">
              <a:buNone/>
            </a:pPr>
            <a:r>
              <a:rPr lang="en-US" sz="2000" dirty="0">
                <a:solidFill>
                  <a:schemeClr val="bg2"/>
                </a:solidFill>
              </a:rPr>
              <a:t>Tech4Bharat, GAVS 2026</a:t>
            </a:r>
            <a:endParaRPr lang="en-US" sz="2000" dirty="0"/>
          </a:p>
          <a:p>
            <a:pPr indent="0" marL="0">
              <a:buNone/>
            </a:pPr>
            <a:r>
              <a:rPr lang="en-US" sz="2000" dirty="0">
                <a:solidFill>
                  <a:schemeClr val="bg2"/>
                </a:solidFill>
              </a:rPr>
              <a:t>Agentic AI track  ·  Problem 6.3</a:t>
            </a:r>
            <a:endParaRPr lang="en-US" sz="2000" dirty="0"/>
          </a:p>
        </p:txBody>
      </p:sp>
      <p:sp>
        <p:nvSpPr>
          <p:cNvPr id="5" name="text-4"/>
          <p:cNvSpPr txBox="1"/>
          <p:nvPr/>
        </p:nvSpPr>
        <p:spPr>
          <a:xfrm>
            <a:off x="640080" y="5074920"/>
            <a:ext cx="6949440" cy="411480"/>
          </a:xfrm>
          <a:prstGeom prst="rect">
            <a:avLst/>
          </a:prstGeom>
          <a:noFill/>
          <a:ln/>
        </p:spPr>
        <p:txBody>
          <a:bodyPr wrap="square" lIns="0" tIns="0" rIns="0" bIns="0" rtlCol="0" anchor="t"/>
          <a:lstStyle/>
          <a:p>
            <a:pPr indent="0" marL="0">
              <a:buNone/>
            </a:pPr>
            <a:r>
              <a:rPr lang="en-US" sz="2000" b="1" dirty="0">
                <a:solidFill>
                  <a:schemeClr val="bg2"/>
                </a:solidFill>
              </a:rPr>
              <a:t>Team Clo  ·  Founder: Adarsh Kumar</a:t>
            </a:r>
            <a:endParaRPr lang="en-US" sz="2000" dirty="0"/>
          </a:p>
        </p:txBody>
      </p:sp>
      <p:sp>
        <p:nvSpPr>
          <p:cNvPr id="6" name="label-mock-5"/>
          <p:cNvSpPr/>
          <p:nvPr/>
        </p:nvSpPr>
        <p:spPr>
          <a:xfrm>
            <a:off x="8001000" y="1051560"/>
            <a:ext cx="3611880" cy="4754880"/>
          </a:xfrm>
          <a:prstGeom prst="roundRect">
            <a:avLst>
              <a:gd name="adj" fmla="val 4557"/>
            </a:avLst>
          </a:prstGeom>
          <a:solidFill>
            <a:schemeClr val="bg2"/>
          </a:solidFill>
          <a:ln/>
          <a:effectLst>
            <a:outerShdw sx="100000" sy="100000" kx="0" ky="0" algn="bl" rotWithShape="0" blurRad="127000" dist="25400" dir="5400000">
              <a:srgbClr val="1E1B18">
                <a:alpha val="10000"/>
              </a:srgbClr>
            </a:outerShdw>
          </a:effectLst>
        </p:spPr>
      </p:sp>
      <p:sp>
        <p:nvSpPr>
          <p:cNvPr id="7" name="text-6"/>
          <p:cNvSpPr txBox="1"/>
          <p:nvPr/>
        </p:nvSpPr>
        <p:spPr>
          <a:xfrm>
            <a:off x="8321040" y="1325880"/>
            <a:ext cx="2971800" cy="548640"/>
          </a:xfrm>
          <a:prstGeom prst="rect">
            <a:avLst/>
          </a:prstGeom>
          <a:noFill/>
          <a:ln/>
        </p:spPr>
        <p:txBody>
          <a:bodyPr wrap="square" lIns="0" tIns="0" rIns="0" bIns="0" rtlCol="0" anchor="t"/>
          <a:lstStyle/>
          <a:p>
            <a:pPr indent="0" marL="0">
              <a:buNone/>
            </a:pPr>
            <a:r>
              <a:rPr lang="en-US" sz="2800" dirty="0">
                <a:solidFill>
                  <a:schemeClr val="accent1"/>
                </a:solidFill>
                <a:latin typeface="+mj-lt" pitchFamily="34" charset="0"/>
                <a:ea typeface="+mj-lt" pitchFamily="34" charset="-122"/>
                <a:cs typeface="+mj-lt" pitchFamily="34" charset="-120"/>
              </a:rPr>
              <a:t>Aam ka Achaar</a:t>
            </a:r>
            <a:endParaRPr lang="en-US" sz="2800" dirty="0"/>
          </a:p>
        </p:txBody>
      </p:sp>
      <p:sp>
        <p:nvSpPr>
          <p:cNvPr id="8" name="text-7"/>
          <p:cNvSpPr txBox="1"/>
          <p:nvPr/>
        </p:nvSpPr>
        <p:spPr>
          <a:xfrm>
            <a:off x="8321040" y="1856232"/>
            <a:ext cx="2971800" cy="320040"/>
          </a:xfrm>
          <a:prstGeom prst="rect">
            <a:avLst/>
          </a:prstGeom>
          <a:noFill/>
          <a:ln/>
        </p:spPr>
        <p:txBody>
          <a:bodyPr wrap="square" lIns="0" tIns="0" rIns="0" bIns="0" rtlCol="0" anchor="t"/>
          <a:lstStyle/>
          <a:p>
            <a:pPr indent="0" marL="0">
              <a:buNone/>
            </a:pPr>
            <a:r>
              <a:rPr lang="en-US" sz="1300" dirty="0">
                <a:solidFill>
                  <a:schemeClr val="tx2"/>
                </a:solidFill>
              </a:rPr>
              <a:t>Home-made mango pickle  ·  400 g</a:t>
            </a:r>
            <a:endParaRPr lang="en-US" sz="1300" dirty="0"/>
          </a:p>
        </p:txBody>
      </p:sp>
      <p:sp>
        <p:nvSpPr>
          <p:cNvPr id="9" name="text-8"/>
          <p:cNvSpPr txBox="1"/>
          <p:nvPr/>
        </p:nvSpPr>
        <p:spPr>
          <a:xfrm>
            <a:off x="8321040" y="2377440"/>
            <a:ext cx="1417320" cy="292608"/>
          </a:xfrm>
          <a:prstGeom prst="rect">
            <a:avLst/>
          </a:prstGeom>
          <a:noFill/>
          <a:ln/>
        </p:spPr>
        <p:txBody>
          <a:bodyPr wrap="square" lIns="0" tIns="0" rIns="0" bIns="0" rtlCol="0" anchor="b"/>
          <a:lstStyle/>
          <a:p>
            <a:pPr indent="0" marL="0">
              <a:buNone/>
            </a:pPr>
            <a:r>
              <a:rPr lang="en-US" sz="1300" b="1" dirty="0">
                <a:solidFill>
                  <a:schemeClr val="tx1"/>
                </a:solidFill>
              </a:rPr>
              <a:t>Ingredients</a:t>
            </a:r>
            <a:endParaRPr lang="en-US" sz="1300" dirty="0"/>
          </a:p>
        </p:txBody>
      </p:sp>
      <p:sp>
        <p:nvSpPr>
          <p:cNvPr id="10" name="line-9"/>
          <p:cNvSpPr/>
          <p:nvPr/>
        </p:nvSpPr>
        <p:spPr>
          <a:xfrm>
            <a:off x="9784080" y="2651760"/>
            <a:ext cx="1508760" cy="0"/>
          </a:xfrm>
          <a:prstGeom prst="line">
            <a:avLst/>
          </a:prstGeom>
          <a:noFill/>
          <a:ln w="19050">
            <a:solidFill>
              <a:schemeClr val="accent5"/>
            </a:solidFill>
            <a:prstDash val="solid"/>
          </a:ln>
        </p:spPr>
      </p:sp>
      <p:sp>
        <p:nvSpPr>
          <p:cNvPr id="11" name="text-10"/>
          <p:cNvSpPr txBox="1"/>
          <p:nvPr/>
        </p:nvSpPr>
        <p:spPr>
          <a:xfrm>
            <a:off x="8321040" y="2852928"/>
            <a:ext cx="1417320" cy="292608"/>
          </a:xfrm>
          <a:prstGeom prst="rect">
            <a:avLst/>
          </a:prstGeom>
          <a:noFill/>
          <a:ln/>
        </p:spPr>
        <p:txBody>
          <a:bodyPr wrap="square" lIns="0" tIns="0" rIns="0" bIns="0" rtlCol="0" anchor="b"/>
          <a:lstStyle/>
          <a:p>
            <a:pPr indent="0" marL="0">
              <a:buNone/>
            </a:pPr>
            <a:r>
              <a:rPr lang="en-US" sz="1300" b="1" dirty="0">
                <a:solidFill>
                  <a:schemeClr val="tx1"/>
                </a:solidFill>
              </a:rPr>
              <a:t>Allergens</a:t>
            </a:r>
            <a:endParaRPr lang="en-US" sz="1300" dirty="0"/>
          </a:p>
        </p:txBody>
      </p:sp>
      <p:sp>
        <p:nvSpPr>
          <p:cNvPr id="12" name="line-11"/>
          <p:cNvSpPr/>
          <p:nvPr/>
        </p:nvSpPr>
        <p:spPr>
          <a:xfrm>
            <a:off x="9784080" y="3127248"/>
            <a:ext cx="1508760" cy="0"/>
          </a:xfrm>
          <a:prstGeom prst="line">
            <a:avLst/>
          </a:prstGeom>
          <a:noFill/>
          <a:ln w="19050">
            <a:solidFill>
              <a:schemeClr val="accent5"/>
            </a:solidFill>
            <a:prstDash val="solid"/>
          </a:ln>
        </p:spPr>
      </p:sp>
      <p:sp>
        <p:nvSpPr>
          <p:cNvPr id="13" name="text-12"/>
          <p:cNvSpPr txBox="1"/>
          <p:nvPr/>
        </p:nvSpPr>
        <p:spPr>
          <a:xfrm>
            <a:off x="8321040" y="3328416"/>
            <a:ext cx="1417320" cy="292608"/>
          </a:xfrm>
          <a:prstGeom prst="rect">
            <a:avLst/>
          </a:prstGeom>
          <a:noFill/>
          <a:ln/>
        </p:spPr>
        <p:txBody>
          <a:bodyPr wrap="square" lIns="0" tIns="0" rIns="0" bIns="0" rtlCol="0" anchor="b"/>
          <a:lstStyle/>
          <a:p>
            <a:pPr indent="0" marL="0">
              <a:buNone/>
            </a:pPr>
            <a:r>
              <a:rPr lang="en-US" sz="1300" b="1" dirty="0">
                <a:solidFill>
                  <a:schemeClr val="tx1"/>
                </a:solidFill>
              </a:rPr>
              <a:t>Batch no.</a:t>
            </a:r>
            <a:endParaRPr lang="en-US" sz="1300" dirty="0"/>
          </a:p>
        </p:txBody>
      </p:sp>
      <p:sp>
        <p:nvSpPr>
          <p:cNvPr id="14" name="line-13"/>
          <p:cNvSpPr/>
          <p:nvPr/>
        </p:nvSpPr>
        <p:spPr>
          <a:xfrm>
            <a:off x="9784080" y="3602736"/>
            <a:ext cx="1508760" cy="0"/>
          </a:xfrm>
          <a:prstGeom prst="line">
            <a:avLst/>
          </a:prstGeom>
          <a:noFill/>
          <a:ln w="19050">
            <a:solidFill>
              <a:schemeClr val="accent5"/>
            </a:solidFill>
            <a:prstDash val="solid"/>
          </a:ln>
        </p:spPr>
      </p:sp>
      <p:sp>
        <p:nvSpPr>
          <p:cNvPr id="15" name="text-14"/>
          <p:cNvSpPr txBox="1"/>
          <p:nvPr/>
        </p:nvSpPr>
        <p:spPr>
          <a:xfrm>
            <a:off x="8321040" y="3803904"/>
            <a:ext cx="1417320" cy="292608"/>
          </a:xfrm>
          <a:prstGeom prst="rect">
            <a:avLst/>
          </a:prstGeom>
          <a:noFill/>
          <a:ln/>
        </p:spPr>
        <p:txBody>
          <a:bodyPr wrap="square" lIns="0" tIns="0" rIns="0" bIns="0" rtlCol="0" anchor="b"/>
          <a:lstStyle/>
          <a:p>
            <a:pPr indent="0" marL="0">
              <a:buNone/>
            </a:pPr>
            <a:r>
              <a:rPr lang="en-US" sz="1300" b="1" dirty="0">
                <a:solidFill>
                  <a:schemeClr val="tx1"/>
                </a:solidFill>
              </a:rPr>
              <a:t>Best before</a:t>
            </a:r>
            <a:endParaRPr lang="en-US" sz="1300" dirty="0"/>
          </a:p>
        </p:txBody>
      </p:sp>
      <p:sp>
        <p:nvSpPr>
          <p:cNvPr id="16" name="line-15"/>
          <p:cNvSpPr/>
          <p:nvPr/>
        </p:nvSpPr>
        <p:spPr>
          <a:xfrm>
            <a:off x="9784080" y="4078224"/>
            <a:ext cx="1508760" cy="0"/>
          </a:xfrm>
          <a:prstGeom prst="line">
            <a:avLst/>
          </a:prstGeom>
          <a:noFill/>
          <a:ln w="19050">
            <a:solidFill>
              <a:schemeClr val="accent5"/>
            </a:solidFill>
            <a:prstDash val="solid"/>
          </a:ln>
        </p:spPr>
      </p:sp>
      <p:sp>
        <p:nvSpPr>
          <p:cNvPr id="17" name="text-16"/>
          <p:cNvSpPr txBox="1"/>
          <p:nvPr/>
        </p:nvSpPr>
        <p:spPr>
          <a:xfrm>
            <a:off x="8321040" y="4279392"/>
            <a:ext cx="1417320" cy="292608"/>
          </a:xfrm>
          <a:prstGeom prst="rect">
            <a:avLst/>
          </a:prstGeom>
          <a:noFill/>
          <a:ln/>
        </p:spPr>
        <p:txBody>
          <a:bodyPr wrap="square" lIns="0" tIns="0" rIns="0" bIns="0" rtlCol="0" anchor="b"/>
          <a:lstStyle/>
          <a:p>
            <a:pPr indent="0" marL="0">
              <a:buNone/>
            </a:pPr>
            <a:r>
              <a:rPr lang="en-US" sz="1300" b="1" dirty="0">
                <a:solidFill>
                  <a:schemeClr val="tx1"/>
                </a:solidFill>
              </a:rPr>
              <a:t>FSSAI Reg. no.</a:t>
            </a:r>
            <a:endParaRPr lang="en-US" sz="1300" dirty="0"/>
          </a:p>
        </p:txBody>
      </p:sp>
      <p:sp>
        <p:nvSpPr>
          <p:cNvPr id="18" name="line-17"/>
          <p:cNvSpPr/>
          <p:nvPr/>
        </p:nvSpPr>
        <p:spPr>
          <a:xfrm>
            <a:off x="9784080" y="4553712"/>
            <a:ext cx="1508760" cy="0"/>
          </a:xfrm>
          <a:prstGeom prst="line">
            <a:avLst/>
          </a:prstGeom>
          <a:noFill/>
          <a:ln w="19050">
            <a:solidFill>
              <a:schemeClr val="accent5"/>
            </a:solidFill>
            <a:prstDash val="solid"/>
          </a:ln>
        </p:spPr>
      </p:sp>
      <p:sp>
        <p:nvSpPr>
          <p:cNvPr id="19" name="text-18"/>
          <p:cNvSpPr txBox="1"/>
          <p:nvPr/>
        </p:nvSpPr>
        <p:spPr>
          <a:xfrm>
            <a:off x="8321040" y="4754880"/>
            <a:ext cx="1417320" cy="292608"/>
          </a:xfrm>
          <a:prstGeom prst="rect">
            <a:avLst/>
          </a:prstGeom>
          <a:noFill/>
          <a:ln/>
        </p:spPr>
        <p:txBody>
          <a:bodyPr wrap="square" lIns="0" tIns="0" rIns="0" bIns="0" rtlCol="0" anchor="b"/>
          <a:lstStyle/>
          <a:p>
            <a:pPr indent="0" marL="0">
              <a:buNone/>
            </a:pPr>
            <a:r>
              <a:rPr lang="en-US" sz="1300" b="1" dirty="0">
                <a:solidFill>
                  <a:schemeClr val="tx1"/>
                </a:solidFill>
              </a:rPr>
              <a:t>MRP</a:t>
            </a:r>
            <a:endParaRPr lang="en-US" sz="1300" dirty="0"/>
          </a:p>
        </p:txBody>
      </p:sp>
      <p:sp>
        <p:nvSpPr>
          <p:cNvPr id="20" name="line-19"/>
          <p:cNvSpPr/>
          <p:nvPr/>
        </p:nvSpPr>
        <p:spPr>
          <a:xfrm>
            <a:off x="9784080" y="5029200"/>
            <a:ext cx="1508760" cy="0"/>
          </a:xfrm>
          <a:prstGeom prst="line">
            <a:avLst/>
          </a:prstGeom>
          <a:noFill/>
          <a:ln w="19050">
            <a:solidFill>
              <a:schemeClr val="accent5"/>
            </a:solidFill>
            <a:prstDash val="solid"/>
          </a:ln>
        </p:spPr>
      </p:sp>
      <p:sp>
        <p:nvSpPr>
          <p:cNvPr id="21" name="chip-20"/>
          <p:cNvSpPr/>
          <p:nvPr/>
        </p:nvSpPr>
        <p:spPr>
          <a:xfrm>
            <a:off x="8321040" y="5184648"/>
            <a:ext cx="2971800" cy="365760"/>
          </a:xfrm>
          <a:prstGeom prst="roundRect">
            <a:avLst>
              <a:gd name="adj" fmla="val 50000"/>
            </a:avLst>
          </a:prstGeom>
          <a:solidFill>
            <a:schemeClr val="accent2"/>
          </a:solidFill>
          <a:ln/>
        </p:spPr>
      </p:sp>
      <p:sp>
        <p:nvSpPr>
          <p:cNvPr id="22" name="text-21"/>
          <p:cNvSpPr txBox="1"/>
          <p:nvPr/>
        </p:nvSpPr>
        <p:spPr>
          <a:xfrm>
            <a:off x="8321040" y="5184648"/>
            <a:ext cx="2971800" cy="365760"/>
          </a:xfrm>
          <a:prstGeom prst="rect">
            <a:avLst/>
          </a:prstGeom>
          <a:noFill/>
          <a:ln/>
        </p:spPr>
        <p:txBody>
          <a:bodyPr wrap="square" lIns="0" tIns="0" rIns="0" bIns="0" rtlCol="0" anchor="ctr"/>
          <a:lstStyle/>
          <a:p>
            <a:pPr algn="ctr" indent="0" marL="0">
              <a:buNone/>
            </a:pPr>
            <a:r>
              <a:rPr lang="en-US" sz="1100" b="1" spc="50" kern="0" dirty="0">
                <a:solidFill>
                  <a:schemeClr val="tx1"/>
                </a:solidFill>
              </a:rPr>
              <a:t>DRAFT · CHECK BEFORE PRINTING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Meet the maker</a:t>
            </a:r>
            <a:endParaRPr lang="en-US" sz="3800" dirty="0"/>
          </a:p>
        </p:txBody>
      </p:sp>
      <p:sp>
        <p:nvSpPr>
          <p:cNvPr id="3" name="chip-22"/>
          <p:cNvSpPr/>
          <p:nvPr/>
        </p:nvSpPr>
        <p:spPr>
          <a:xfrm>
            <a:off x="9265615" y="585216"/>
            <a:ext cx="2377440" cy="365760"/>
          </a:xfrm>
          <a:prstGeom prst="roundRect">
            <a:avLst>
              <a:gd name="adj" fmla="val 50000"/>
            </a:avLst>
          </a:prstGeom>
          <a:solidFill>
            <a:schemeClr val="accent3"/>
          </a:solidFill>
          <a:ln/>
        </p:spPr>
      </p:sp>
      <p:sp>
        <p:nvSpPr>
          <p:cNvPr id="4" name="text-23"/>
          <p:cNvSpPr txBox="1"/>
          <p:nvPr/>
        </p:nvSpPr>
        <p:spPr>
          <a:xfrm>
            <a:off x="9265615" y="585216"/>
            <a:ext cx="2377440" cy="365760"/>
          </a:xfrm>
          <a:prstGeom prst="rect">
            <a:avLst/>
          </a:prstGeom>
          <a:noFill/>
          <a:ln/>
        </p:spPr>
        <p:txBody>
          <a:bodyPr wrap="square" lIns="0" tIns="0" rIns="0" bIns="0" rtlCol="0" anchor="ctr"/>
          <a:lstStyle/>
          <a:p>
            <a:pPr algn="ctr" indent="0" marL="0">
              <a:buNone/>
            </a:pPr>
            <a:r>
              <a:rPr lang="en-US" sz="1300" b="1" spc="150" kern="0" dirty="0">
                <a:solidFill>
                  <a:schemeClr val="tx1"/>
                </a:solidFill>
              </a:rPr>
              <a:t>ILLUSTRATIVE STORY</a:t>
            </a:r>
            <a:endParaRPr lang="en-US" sz="1300" dirty="0"/>
          </a:p>
        </p:txBody>
      </p:sp>
      <p:sp>
        <p:nvSpPr>
          <p:cNvPr id="5" name="text-24"/>
          <p:cNvSpPr txBox="1"/>
          <p:nvPr/>
        </p:nvSpPr>
        <p:spPr>
          <a:xfrm>
            <a:off x="548640" y="1417320"/>
            <a:ext cx="5760720" cy="868680"/>
          </a:xfrm>
          <a:prstGeom prst="rect">
            <a:avLst/>
          </a:prstGeom>
          <a:noFill/>
          <a:ln/>
        </p:spPr>
        <p:txBody>
          <a:bodyPr wrap="square" lIns="0" tIns="0" rIns="0" bIns="0" rtlCol="0" anchor="t"/>
          <a:lstStyle/>
          <a:p>
            <a:pPr indent="0" marL="0">
              <a:buNone/>
            </a:pPr>
            <a:r>
              <a:rPr lang="en-US" sz="2400" dirty="0">
                <a:solidFill>
                  <a:schemeClr val="tx1"/>
                </a:solidFill>
              </a:rPr>
              <a:t>A home pickle maker in Ghaziabad. Her neighbours love her aam ka achaar.</a:t>
            </a:r>
            <a:endParaRPr lang="en-US" sz="2400" dirty="0"/>
          </a:p>
        </p:txBody>
      </p:sp>
      <p:sp>
        <p:nvSpPr>
          <p:cNvPr id="6" name="card-25"/>
          <p:cNvSpPr/>
          <p:nvPr/>
        </p:nvSpPr>
        <p:spPr>
          <a:xfrm>
            <a:off x="548640" y="2468880"/>
            <a:ext cx="5760720" cy="2148840"/>
          </a:xfrm>
          <a:prstGeom prst="roundRect">
            <a:avLst>
              <a:gd name="adj" fmla="val 5957"/>
            </a:avLst>
          </a:prstGeom>
          <a:solidFill>
            <a:schemeClr val="bg1"/>
          </a:solidFill>
          <a:ln/>
          <a:effectLst>
            <a:outerShdw sx="100000" sy="100000" kx="0" ky="0" algn="bl" rotWithShape="0" blurRad="127000" dist="25400" dir="5400000">
              <a:srgbClr val="1E1B18">
                <a:alpha val="10000"/>
              </a:srgbClr>
            </a:outerShdw>
          </a:effectLst>
        </p:spPr>
      </p:sp>
      <p:sp>
        <p:nvSpPr>
          <p:cNvPr id="7" name="text-26"/>
          <p:cNvSpPr txBox="1"/>
          <p:nvPr/>
        </p:nvSpPr>
        <p:spPr>
          <a:xfrm>
            <a:off x="868680" y="2670048"/>
            <a:ext cx="5120640" cy="365760"/>
          </a:xfrm>
          <a:prstGeom prst="rect">
            <a:avLst/>
          </a:prstGeom>
          <a:noFill/>
          <a:ln/>
        </p:spPr>
        <p:txBody>
          <a:bodyPr wrap="square" lIns="0" tIns="0" rIns="0" bIns="0" rtlCol="0" anchor="t"/>
          <a:lstStyle/>
          <a:p>
            <a:pPr indent="0" marL="0">
              <a:buNone/>
            </a:pPr>
            <a:r>
              <a:rPr lang="en-US" sz="1600" dirty="0">
                <a:solidFill>
                  <a:schemeClr val="tx2"/>
                </a:solidFill>
              </a:rPr>
              <a:t>A local store and an online marketplace both say:</a:t>
            </a:r>
            <a:endParaRPr lang="en-US" sz="1600" dirty="0"/>
          </a:p>
        </p:txBody>
      </p:sp>
      <p:sp>
        <p:nvSpPr>
          <p:cNvPr id="8" name="text-27"/>
          <p:cNvSpPr txBox="1"/>
          <p:nvPr/>
        </p:nvSpPr>
        <p:spPr>
          <a:xfrm>
            <a:off x="868680" y="3063240"/>
            <a:ext cx="5120640" cy="1371600"/>
          </a:xfrm>
          <a:prstGeom prst="rect">
            <a:avLst/>
          </a:prstGeom>
          <a:noFill/>
          <a:ln/>
        </p:spPr>
        <p:txBody>
          <a:bodyPr wrap="square" lIns="0" tIns="0" rIns="0" bIns="0" rtlCol="0" anchor="t"/>
          <a:lstStyle/>
          <a:p>
            <a:pPr indent="0" marL="0">
              <a:buNone/>
            </a:pPr>
            <a:r>
              <a:rPr lang="en-US" sz="2800" dirty="0">
                <a:solidFill>
                  <a:schemeClr val="accent1"/>
                </a:solidFill>
                <a:latin typeface="+mj-lt" pitchFamily="34" charset="0"/>
                <a:ea typeface="+mj-lt" pitchFamily="34" charset="-122"/>
                <a:cs typeface="+mj-lt" pitchFamily="34" charset="-120"/>
              </a:rPr>
              <a:t>“Bring a proper label, a batch number and your FSSAI registration.”</a:t>
            </a:r>
            <a:endParaRPr lang="en-US" sz="2800" dirty="0"/>
          </a:p>
        </p:txBody>
      </p:sp>
      <p:sp>
        <p:nvSpPr>
          <p:cNvPr id="9" name="text-28"/>
          <p:cNvSpPr txBox="1"/>
          <p:nvPr/>
        </p:nvSpPr>
        <p:spPr>
          <a:xfrm>
            <a:off x="6812280" y="1463040"/>
            <a:ext cx="4830775" cy="320040"/>
          </a:xfrm>
          <a:prstGeom prst="rect">
            <a:avLst/>
          </a:prstGeom>
          <a:noFill/>
          <a:ln/>
        </p:spPr>
        <p:txBody>
          <a:bodyPr wrap="square" lIns="0" tIns="0" rIns="0" bIns="0" rtlCol="0" anchor="t"/>
          <a:lstStyle/>
          <a:p>
            <a:pPr indent="0" marL="0">
              <a:buNone/>
            </a:pPr>
            <a:r>
              <a:rPr lang="en-US" sz="1400" b="1" spc="200" kern="0" dirty="0">
                <a:solidFill>
                  <a:schemeClr val="tx2"/>
                </a:solidFill>
              </a:rPr>
              <a:t>TODAY</a:t>
            </a:r>
            <a:endParaRPr lang="en-US" sz="1400" dirty="0"/>
          </a:p>
        </p:txBody>
      </p:sp>
      <p:sp>
        <p:nvSpPr>
          <p:cNvPr id="10" name="icon-bg-29"/>
          <p:cNvSpPr/>
          <p:nvPr/>
        </p:nvSpPr>
        <p:spPr>
          <a:xfrm>
            <a:off x="6812280" y="1920240"/>
            <a:ext cx="530352" cy="530352"/>
          </a:xfrm>
          <a:prstGeom prst="ellipse">
            <a:avLst/>
          </a:prstGeom>
          <a:solidFill>
            <a:schemeClr val="accent3"/>
          </a:solidFill>
          <a:ln/>
        </p:spPr>
      </p:sp>
      <p:pic>
        <p:nvPicPr>
          <p:cNvPr id="11" name="icon-30" descr="PenLine icon">    </p:cNvPr>
          <p:cNvPicPr>
            <a:picLocks noChangeAspect="1"/>
          </p:cNvPicPr>
          <p:nvPr/>
        </p:nvPicPr>
        <p:blipFill>
          <a:blip r:embed="rId1"/>
          <a:stretch>
            <a:fillRect/>
          </a:stretch>
        </p:blipFill>
        <p:spPr>
          <a:xfrm>
            <a:off x="6939564" y="2047524"/>
            <a:ext cx="275783" cy="275783"/>
          </a:xfrm>
          <a:prstGeom prst="rect">
            <a:avLst/>
          </a:prstGeom>
        </p:spPr>
      </p:pic>
      <p:sp>
        <p:nvSpPr>
          <p:cNvPr id="12" name="text-31"/>
          <p:cNvSpPr txBox="1"/>
          <p:nvPr/>
        </p:nvSpPr>
        <p:spPr>
          <a:xfrm>
            <a:off x="7543800" y="1920240"/>
            <a:ext cx="4099255" cy="530352"/>
          </a:xfrm>
          <a:prstGeom prst="rect">
            <a:avLst/>
          </a:prstGeom>
          <a:noFill/>
          <a:ln/>
        </p:spPr>
        <p:txBody>
          <a:bodyPr wrap="square" lIns="0" tIns="0" rIns="0" bIns="0" rtlCol="0" anchor="ctr"/>
          <a:lstStyle/>
          <a:p>
            <a:pPr indent="0" marL="0">
              <a:buNone/>
            </a:pPr>
            <a:r>
              <a:rPr lang="en-US" sz="2400" dirty="0">
                <a:solidFill>
                  <a:schemeClr val="tx1"/>
                </a:solidFill>
              </a:rPr>
              <a:t>Labels are handwritten</a:t>
            </a:r>
            <a:endParaRPr lang="en-US" sz="2400" dirty="0"/>
          </a:p>
        </p:txBody>
      </p:sp>
      <p:sp>
        <p:nvSpPr>
          <p:cNvPr id="13" name="icon-bg-32"/>
          <p:cNvSpPr/>
          <p:nvPr/>
        </p:nvSpPr>
        <p:spPr>
          <a:xfrm>
            <a:off x="6812280" y="2606040"/>
            <a:ext cx="530352" cy="530352"/>
          </a:xfrm>
          <a:prstGeom prst="ellipse">
            <a:avLst/>
          </a:prstGeom>
          <a:solidFill>
            <a:schemeClr val="accent3"/>
          </a:solidFill>
          <a:ln/>
        </p:spPr>
      </p:sp>
      <p:pic>
        <p:nvPicPr>
          <p:cNvPr id="14" name="icon-33" descr="Brain icon">    </p:cNvPr>
          <p:cNvPicPr>
            <a:picLocks noChangeAspect="1"/>
          </p:cNvPicPr>
          <p:nvPr/>
        </p:nvPicPr>
        <p:blipFill>
          <a:blip r:embed="rId2"/>
          <a:stretch>
            <a:fillRect/>
          </a:stretch>
        </p:blipFill>
        <p:spPr>
          <a:xfrm>
            <a:off x="6939564" y="2733324"/>
            <a:ext cx="275783" cy="275783"/>
          </a:xfrm>
          <a:prstGeom prst="rect">
            <a:avLst/>
          </a:prstGeom>
        </p:spPr>
      </p:pic>
      <p:sp>
        <p:nvSpPr>
          <p:cNvPr id="15" name="text-34"/>
          <p:cNvSpPr txBox="1"/>
          <p:nvPr/>
        </p:nvSpPr>
        <p:spPr>
          <a:xfrm>
            <a:off x="7543800" y="2606040"/>
            <a:ext cx="4099255" cy="530352"/>
          </a:xfrm>
          <a:prstGeom prst="rect">
            <a:avLst/>
          </a:prstGeom>
          <a:noFill/>
          <a:ln/>
        </p:spPr>
        <p:txBody>
          <a:bodyPr wrap="square" lIns="0" tIns="0" rIns="0" bIns="0" rtlCol="0" anchor="ctr"/>
          <a:lstStyle/>
          <a:p>
            <a:pPr indent="0" marL="0">
              <a:buNone/>
            </a:pPr>
            <a:r>
              <a:rPr lang="en-US" sz="2400" dirty="0">
                <a:solidFill>
                  <a:schemeClr val="tx1"/>
                </a:solidFill>
              </a:rPr>
              <a:t>Batches live in memory</a:t>
            </a:r>
            <a:endParaRPr lang="en-US" sz="2400" dirty="0"/>
          </a:p>
        </p:txBody>
      </p:sp>
      <p:sp>
        <p:nvSpPr>
          <p:cNvPr id="16" name="icon-bg-35"/>
          <p:cNvSpPr/>
          <p:nvPr/>
        </p:nvSpPr>
        <p:spPr>
          <a:xfrm>
            <a:off x="6812280" y="3291840"/>
            <a:ext cx="530352" cy="530352"/>
          </a:xfrm>
          <a:prstGeom prst="ellipse">
            <a:avLst/>
          </a:prstGeom>
          <a:solidFill>
            <a:schemeClr val="accent3"/>
          </a:solidFill>
          <a:ln/>
        </p:spPr>
      </p:sp>
      <p:pic>
        <p:nvPicPr>
          <p:cNvPr id="17" name="icon-36" descr="IndianRupee icon">    </p:cNvPr>
          <p:cNvPicPr>
            <a:picLocks noChangeAspect="1"/>
          </p:cNvPicPr>
          <p:nvPr/>
        </p:nvPicPr>
        <p:blipFill>
          <a:blip r:embed="rId3"/>
          <a:stretch>
            <a:fillRect/>
          </a:stretch>
        </p:blipFill>
        <p:spPr>
          <a:xfrm>
            <a:off x="6939564" y="3419124"/>
            <a:ext cx="275783" cy="275783"/>
          </a:xfrm>
          <a:prstGeom prst="rect">
            <a:avLst/>
          </a:prstGeom>
        </p:spPr>
      </p:pic>
      <p:sp>
        <p:nvSpPr>
          <p:cNvPr id="18" name="text-37"/>
          <p:cNvSpPr txBox="1"/>
          <p:nvPr/>
        </p:nvSpPr>
        <p:spPr>
          <a:xfrm>
            <a:off x="7543800" y="3291840"/>
            <a:ext cx="4099255" cy="530352"/>
          </a:xfrm>
          <a:prstGeom prst="rect">
            <a:avLst/>
          </a:prstGeom>
          <a:noFill/>
          <a:ln/>
        </p:spPr>
        <p:txBody>
          <a:bodyPr wrap="square" lIns="0" tIns="0" rIns="0" bIns="0" rtlCol="0" anchor="ctr"/>
          <a:lstStyle/>
          <a:p>
            <a:pPr indent="0" marL="0">
              <a:buNone/>
            </a:pPr>
            <a:r>
              <a:rPr lang="en-US" sz="2400" dirty="0">
                <a:solidFill>
                  <a:schemeClr val="tx1"/>
                </a:solidFill>
              </a:rPr>
              <a:t>Prices are guesswork</a:t>
            </a:r>
            <a:endParaRPr lang="en-US" sz="2400" dirty="0"/>
          </a:p>
        </p:txBody>
      </p:sp>
      <p:sp>
        <p:nvSpPr>
          <p:cNvPr id="19" name="icon-bg-38"/>
          <p:cNvSpPr/>
          <p:nvPr/>
        </p:nvSpPr>
        <p:spPr>
          <a:xfrm>
            <a:off x="6812280" y="3977640"/>
            <a:ext cx="530352" cy="530352"/>
          </a:xfrm>
          <a:prstGeom prst="ellipse">
            <a:avLst/>
          </a:prstGeom>
          <a:solidFill>
            <a:schemeClr val="accent3"/>
          </a:solidFill>
          <a:ln/>
        </p:spPr>
      </p:sp>
      <p:pic>
        <p:nvPicPr>
          <p:cNvPr id="20" name="icon-39" descr="FileText icon">    </p:cNvPr>
          <p:cNvPicPr>
            <a:picLocks noChangeAspect="1"/>
          </p:cNvPicPr>
          <p:nvPr/>
        </p:nvPicPr>
        <p:blipFill>
          <a:blip r:embed="rId4"/>
          <a:stretch>
            <a:fillRect/>
          </a:stretch>
        </p:blipFill>
        <p:spPr>
          <a:xfrm>
            <a:off x="6939564" y="4104924"/>
            <a:ext cx="275783" cy="275783"/>
          </a:xfrm>
          <a:prstGeom prst="rect">
            <a:avLst/>
          </a:prstGeom>
        </p:spPr>
      </p:pic>
      <p:sp>
        <p:nvSpPr>
          <p:cNvPr id="21" name="text-40"/>
          <p:cNvSpPr txBox="1"/>
          <p:nvPr/>
        </p:nvSpPr>
        <p:spPr>
          <a:xfrm>
            <a:off x="7543800" y="3977640"/>
            <a:ext cx="4099255" cy="530352"/>
          </a:xfrm>
          <a:prstGeom prst="rect">
            <a:avLst/>
          </a:prstGeom>
          <a:noFill/>
          <a:ln/>
        </p:spPr>
        <p:txBody>
          <a:bodyPr wrap="square" lIns="0" tIns="0" rIns="0" bIns="0" rtlCol="0" anchor="ctr"/>
          <a:lstStyle/>
          <a:p>
            <a:pPr indent="0" marL="0">
              <a:buNone/>
            </a:pPr>
            <a:r>
              <a:rPr lang="en-US" sz="2400" dirty="0">
                <a:solidFill>
                  <a:schemeClr val="tx1"/>
                </a:solidFill>
              </a:rPr>
              <a:t>Registered once, or never</a:t>
            </a:r>
            <a:endParaRPr lang="en-US" sz="2400" dirty="0"/>
          </a:p>
        </p:txBody>
      </p:sp>
      <p:sp>
        <p:nvSpPr>
          <p:cNvPr id="22" name="card-41"/>
          <p:cNvSpPr/>
          <p:nvPr/>
        </p:nvSpPr>
        <p:spPr>
          <a:xfrm>
            <a:off x="548640" y="4983480"/>
            <a:ext cx="11094415" cy="1051560"/>
          </a:xfrm>
          <a:prstGeom prst="roundRect">
            <a:avLst>
              <a:gd name="adj" fmla="val 12174"/>
            </a:avLst>
          </a:prstGeom>
          <a:solidFill>
            <a:schemeClr val="accent1"/>
          </a:solidFill>
          <a:ln/>
          <a:effectLst>
            <a:outerShdw sx="100000" sy="100000" kx="0" ky="0" algn="bl" rotWithShape="0" blurRad="127000" dist="25400" dir="5400000">
              <a:srgbClr val="1E1B18">
                <a:alpha val="10000"/>
              </a:srgbClr>
            </a:outerShdw>
          </a:effectLst>
        </p:spPr>
      </p:sp>
      <p:sp>
        <p:nvSpPr>
          <p:cNvPr id="23" name="text-42"/>
          <p:cNvSpPr txBox="1"/>
          <p:nvPr/>
        </p:nvSpPr>
        <p:spPr>
          <a:xfrm>
            <a:off x="914400" y="4983480"/>
            <a:ext cx="10362895" cy="1051560"/>
          </a:xfrm>
          <a:prstGeom prst="rect">
            <a:avLst/>
          </a:prstGeom>
          <a:noFill/>
          <a:ln/>
        </p:spPr>
        <p:txBody>
          <a:bodyPr wrap="square" lIns="0" tIns="0" rIns="0" bIns="0" rtlCol="0" anchor="ctr"/>
          <a:lstStyle/>
          <a:p>
            <a:pPr indent="0" marL="0">
              <a:buNone/>
            </a:pPr>
            <a:r>
              <a:rPr lang="en-US" sz="2600" b="1" dirty="0">
                <a:solidFill>
                  <a:schemeClr val="bg2"/>
                </a:solidFill>
              </a:rPr>
              <a:t>Result: </a:t>
            </a:r>
            <a:pPr indent="0" marL="0">
              <a:buNone/>
            </a:pPr>
            <a:r>
              <a:rPr lang="en-US" sz="2600" dirty="0">
                <a:solidFill>
                  <a:schemeClr val="bg2"/>
                </a:solidFill>
              </a:rPr>
              <a:t>she stays local, and often sells below her true cost without knowing it.</a:t>
            </a:r>
            <a:endParaRPr lang="en-US" sz="26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The scale of it</a:t>
            </a:r>
            <a:endParaRPr lang="en-US" sz="3800" dirty="0"/>
          </a:p>
        </p:txBody>
      </p:sp>
      <p:sp>
        <p:nvSpPr>
          <p:cNvPr id="3" name="card-43"/>
          <p:cNvSpPr/>
          <p:nvPr/>
        </p:nvSpPr>
        <p:spPr>
          <a:xfrm>
            <a:off x="548640" y="1463040"/>
            <a:ext cx="3515258" cy="4160520"/>
          </a:xfrm>
          <a:prstGeom prst="roundRect">
            <a:avLst>
              <a:gd name="adj" fmla="val 3642"/>
            </a:avLst>
          </a:prstGeom>
          <a:solidFill>
            <a:schemeClr val="bg1"/>
          </a:solidFill>
          <a:ln/>
          <a:effectLst>
            <a:outerShdw sx="100000" sy="100000" kx="0" ky="0" algn="bl" rotWithShape="0" blurRad="127000" dist="25400" dir="5400000">
              <a:srgbClr val="1E1B18">
                <a:alpha val="10000"/>
              </a:srgbClr>
            </a:outerShdw>
          </a:effectLst>
        </p:spPr>
      </p:sp>
      <p:sp>
        <p:nvSpPr>
          <p:cNvPr id="4" name="text-44"/>
          <p:cNvSpPr txBox="1"/>
          <p:nvPr/>
        </p:nvSpPr>
        <p:spPr>
          <a:xfrm>
            <a:off x="868680" y="1737360"/>
            <a:ext cx="2875178" cy="1005840"/>
          </a:xfrm>
          <a:prstGeom prst="rect">
            <a:avLst/>
          </a:prstGeom>
          <a:noFill/>
          <a:ln/>
        </p:spPr>
        <p:txBody>
          <a:bodyPr wrap="square" lIns="0" tIns="0" rIns="0" bIns="0" rtlCol="0" anchor="b"/>
          <a:lstStyle/>
          <a:p>
            <a:pPr indent="0" marL="0">
              <a:buNone/>
            </a:pPr>
            <a:r>
              <a:rPr lang="en-US" sz="6600" dirty="0">
                <a:solidFill>
                  <a:schemeClr val="accent1"/>
                </a:solidFill>
                <a:latin typeface="+mj-lt" pitchFamily="34" charset="0"/>
                <a:ea typeface="+mj-lt" pitchFamily="34" charset="-122"/>
                <a:cs typeface="+mj-lt" pitchFamily="34" charset="-120"/>
              </a:rPr>
              <a:t>~25</a:t>
            </a:r>
            <a:pPr indent="0" marL="0">
              <a:buNone/>
            </a:pPr>
            <a:r>
              <a:rPr lang="en-US" sz="3200" dirty="0">
                <a:solidFill>
                  <a:schemeClr val="accent1"/>
                </a:solidFill>
                <a:latin typeface="+mj-lt" pitchFamily="34" charset="0"/>
                <a:ea typeface="+mj-lt" pitchFamily="34" charset="-122"/>
                <a:cs typeface="+mj-lt" pitchFamily="34" charset="-120"/>
              </a:rPr>
              <a:t> lakh</a:t>
            </a:r>
            <a:endParaRPr lang="en-US" sz="2400" dirty="0"/>
          </a:p>
        </p:txBody>
      </p:sp>
      <p:sp>
        <p:nvSpPr>
          <p:cNvPr id="5" name="text-45"/>
          <p:cNvSpPr txBox="1"/>
          <p:nvPr/>
        </p:nvSpPr>
        <p:spPr>
          <a:xfrm>
            <a:off x="868680" y="2880360"/>
            <a:ext cx="2875178" cy="1554480"/>
          </a:xfrm>
          <a:prstGeom prst="rect">
            <a:avLst/>
          </a:prstGeom>
          <a:noFill/>
          <a:ln/>
        </p:spPr>
        <p:txBody>
          <a:bodyPr wrap="square" lIns="0" tIns="0" rIns="0" bIns="0" rtlCol="0" anchor="t"/>
          <a:lstStyle/>
          <a:p>
            <a:pPr indent="0" marL="0">
              <a:buNone/>
            </a:pPr>
            <a:r>
              <a:rPr lang="en-US" sz="2400" dirty="0">
                <a:solidFill>
                  <a:schemeClr val="tx1"/>
                </a:solidFill>
              </a:rPr>
              <a:t>unregistered, informal food processing enterprises in India</a:t>
            </a:r>
            <a:endParaRPr lang="en-US" sz="2400" dirty="0"/>
          </a:p>
        </p:txBody>
      </p:sp>
      <p:sp>
        <p:nvSpPr>
          <p:cNvPr id="6" name="text-46"/>
          <p:cNvSpPr txBox="1"/>
          <p:nvPr/>
        </p:nvSpPr>
        <p:spPr>
          <a:xfrm>
            <a:off x="868680" y="4663440"/>
            <a:ext cx="2875178" cy="685800"/>
          </a:xfrm>
          <a:prstGeom prst="rect">
            <a:avLst/>
          </a:prstGeom>
          <a:noFill/>
          <a:ln/>
        </p:spPr>
        <p:txBody>
          <a:bodyPr wrap="square" lIns="0" tIns="0" rIns="0" bIns="0" rtlCol="0" anchor="t"/>
          <a:lstStyle/>
          <a:p>
            <a:pPr indent="0" marL="0">
              <a:buNone/>
            </a:pPr>
            <a:r>
              <a:rPr lang="en-US" sz="2400" b="1" dirty="0">
                <a:solidFill>
                  <a:schemeClr val="accent1"/>
                </a:solidFill>
              </a:rPr>
              <a:t>About 98% of the sector</a:t>
            </a:r>
            <a:endParaRPr lang="en-US" sz="2400" dirty="0"/>
          </a:p>
        </p:txBody>
      </p:sp>
      <p:sp>
        <p:nvSpPr>
          <p:cNvPr id="7" name="card-47"/>
          <p:cNvSpPr/>
          <p:nvPr/>
        </p:nvSpPr>
        <p:spPr>
          <a:xfrm>
            <a:off x="4338218" y="1463040"/>
            <a:ext cx="3515258" cy="4160520"/>
          </a:xfrm>
          <a:prstGeom prst="roundRect">
            <a:avLst>
              <a:gd name="adj" fmla="val 3642"/>
            </a:avLst>
          </a:prstGeom>
          <a:solidFill>
            <a:schemeClr val="bg1"/>
          </a:solidFill>
          <a:ln/>
          <a:effectLst>
            <a:outerShdw sx="100000" sy="100000" kx="0" ky="0" algn="bl" rotWithShape="0" blurRad="127000" dist="25400" dir="5400000">
              <a:srgbClr val="1E1B18">
                <a:alpha val="10000"/>
              </a:srgbClr>
            </a:outerShdw>
          </a:effectLst>
        </p:spPr>
      </p:sp>
      <p:sp>
        <p:nvSpPr>
          <p:cNvPr id="8" name="text-48"/>
          <p:cNvSpPr txBox="1"/>
          <p:nvPr/>
        </p:nvSpPr>
        <p:spPr>
          <a:xfrm>
            <a:off x="4658258" y="1737360"/>
            <a:ext cx="2875178" cy="1005840"/>
          </a:xfrm>
          <a:prstGeom prst="rect">
            <a:avLst/>
          </a:prstGeom>
          <a:noFill/>
          <a:ln/>
        </p:spPr>
        <p:txBody>
          <a:bodyPr wrap="square" lIns="0" tIns="0" rIns="0" bIns="0" rtlCol="0" anchor="b"/>
          <a:lstStyle/>
          <a:p>
            <a:pPr indent="0" marL="0">
              <a:buNone/>
            </a:pPr>
            <a:r>
              <a:rPr lang="en-US" sz="6600" dirty="0">
                <a:solidFill>
                  <a:schemeClr val="accent1"/>
                </a:solidFill>
                <a:latin typeface="+mj-lt" pitchFamily="34" charset="0"/>
                <a:ea typeface="+mj-lt" pitchFamily="34" charset="-122"/>
                <a:cs typeface="+mj-lt" pitchFamily="34" charset="-120"/>
              </a:rPr>
              <a:t>~66%</a:t>
            </a:r>
            <a:endParaRPr lang="en-US" sz="2400" dirty="0"/>
          </a:p>
        </p:txBody>
      </p:sp>
      <p:sp>
        <p:nvSpPr>
          <p:cNvPr id="9" name="text-49"/>
          <p:cNvSpPr txBox="1"/>
          <p:nvPr/>
        </p:nvSpPr>
        <p:spPr>
          <a:xfrm>
            <a:off x="4658258" y="2834640"/>
            <a:ext cx="2875178" cy="457200"/>
          </a:xfrm>
          <a:prstGeom prst="rect">
            <a:avLst/>
          </a:prstGeom>
          <a:noFill/>
          <a:ln/>
        </p:spPr>
        <p:txBody>
          <a:bodyPr wrap="square" lIns="0" tIns="0" rIns="0" bIns="0" rtlCol="0" anchor="t"/>
          <a:lstStyle/>
          <a:p>
            <a:pPr indent="0" marL="0">
              <a:buNone/>
            </a:pPr>
            <a:r>
              <a:rPr lang="en-US" sz="2400" dirty="0">
                <a:solidFill>
                  <a:schemeClr val="tx1"/>
                </a:solidFill>
              </a:rPr>
              <a:t>are in rural areas</a:t>
            </a:r>
            <a:endParaRPr lang="en-US" sz="2400" dirty="0"/>
          </a:p>
        </p:txBody>
      </p:sp>
      <p:sp>
        <p:nvSpPr>
          <p:cNvPr id="10" name="line-50"/>
          <p:cNvSpPr/>
          <p:nvPr/>
        </p:nvSpPr>
        <p:spPr>
          <a:xfrm>
            <a:off x="4658258" y="3538728"/>
            <a:ext cx="2875178" cy="0"/>
          </a:xfrm>
          <a:prstGeom prst="line">
            <a:avLst/>
          </a:prstGeom>
          <a:noFill/>
          <a:ln w="19050">
            <a:solidFill>
              <a:schemeClr val="accent5"/>
            </a:solidFill>
            <a:prstDash val="solid"/>
          </a:ln>
        </p:spPr>
      </p:sp>
      <p:sp>
        <p:nvSpPr>
          <p:cNvPr id="11" name="text-51"/>
          <p:cNvSpPr txBox="1"/>
          <p:nvPr/>
        </p:nvSpPr>
        <p:spPr>
          <a:xfrm>
            <a:off x="4658258" y="3703320"/>
            <a:ext cx="2875178" cy="1005840"/>
          </a:xfrm>
          <a:prstGeom prst="rect">
            <a:avLst/>
          </a:prstGeom>
          <a:noFill/>
          <a:ln/>
        </p:spPr>
        <p:txBody>
          <a:bodyPr wrap="square" lIns="0" tIns="0" rIns="0" bIns="0" rtlCol="0" anchor="b"/>
          <a:lstStyle/>
          <a:p>
            <a:pPr indent="0" marL="0">
              <a:buNone/>
            </a:pPr>
            <a:r>
              <a:rPr lang="en-US" sz="6600" dirty="0">
                <a:solidFill>
                  <a:schemeClr val="accent1"/>
                </a:solidFill>
                <a:latin typeface="+mj-lt" pitchFamily="34" charset="0"/>
                <a:ea typeface="+mj-lt" pitchFamily="34" charset="-122"/>
                <a:cs typeface="+mj-lt" pitchFamily="34" charset="-120"/>
              </a:rPr>
              <a:t>~80%</a:t>
            </a:r>
            <a:endParaRPr lang="en-US" sz="2400" dirty="0"/>
          </a:p>
        </p:txBody>
      </p:sp>
      <p:sp>
        <p:nvSpPr>
          <p:cNvPr id="12" name="text-52"/>
          <p:cNvSpPr txBox="1"/>
          <p:nvPr/>
        </p:nvSpPr>
        <p:spPr>
          <a:xfrm>
            <a:off x="4658258" y="4800600"/>
            <a:ext cx="2875178" cy="457200"/>
          </a:xfrm>
          <a:prstGeom prst="rect">
            <a:avLst/>
          </a:prstGeom>
          <a:noFill/>
          <a:ln/>
        </p:spPr>
        <p:txBody>
          <a:bodyPr wrap="square" lIns="0" tIns="0" rIns="0" bIns="0" rtlCol="0" anchor="t"/>
          <a:lstStyle/>
          <a:p>
            <a:pPr indent="0" marL="0">
              <a:buNone/>
            </a:pPr>
            <a:r>
              <a:rPr lang="en-US" sz="2400" dirty="0">
                <a:solidFill>
                  <a:schemeClr val="tx1"/>
                </a:solidFill>
              </a:rPr>
              <a:t>are family-based</a:t>
            </a:r>
            <a:endParaRPr lang="en-US" sz="2400" dirty="0"/>
          </a:p>
        </p:txBody>
      </p:sp>
      <p:sp>
        <p:nvSpPr>
          <p:cNvPr id="13" name="card-53"/>
          <p:cNvSpPr/>
          <p:nvPr/>
        </p:nvSpPr>
        <p:spPr>
          <a:xfrm>
            <a:off x="8127797" y="1463040"/>
            <a:ext cx="3515258" cy="4160520"/>
          </a:xfrm>
          <a:prstGeom prst="roundRect">
            <a:avLst>
              <a:gd name="adj" fmla="val 3642"/>
            </a:avLst>
          </a:prstGeom>
          <a:solidFill>
            <a:schemeClr val="accent3"/>
          </a:solidFill>
          <a:ln/>
          <a:effectLst>
            <a:outerShdw sx="100000" sy="100000" kx="0" ky="0" algn="bl" rotWithShape="0" blurRad="127000" dist="25400" dir="5400000">
              <a:srgbClr val="1E1B18">
                <a:alpha val="10000"/>
              </a:srgbClr>
            </a:outerShdw>
          </a:effectLst>
        </p:spPr>
      </p:sp>
      <p:sp>
        <p:nvSpPr>
          <p:cNvPr id="14" name="text-54"/>
          <p:cNvSpPr txBox="1"/>
          <p:nvPr/>
        </p:nvSpPr>
        <p:spPr>
          <a:xfrm>
            <a:off x="8447837" y="1737360"/>
            <a:ext cx="2875178" cy="1005840"/>
          </a:xfrm>
          <a:prstGeom prst="rect">
            <a:avLst/>
          </a:prstGeom>
          <a:noFill/>
          <a:ln/>
        </p:spPr>
        <p:txBody>
          <a:bodyPr wrap="square" lIns="0" tIns="0" rIns="0" bIns="0" rtlCol="0" anchor="b"/>
          <a:lstStyle/>
          <a:p>
            <a:pPr indent="0" marL="0">
              <a:buNone/>
            </a:pPr>
            <a:r>
              <a:rPr lang="en-US" sz="6600" dirty="0">
                <a:solidFill>
                  <a:schemeClr val="accent1"/>
                </a:solidFill>
                <a:latin typeface="+mj-lt" pitchFamily="34" charset="0"/>
                <a:ea typeface="+mj-lt" pitchFamily="34" charset="-122"/>
                <a:cs typeface="+mj-lt" pitchFamily="34" charset="-120"/>
              </a:rPr>
              <a:t>~1.96</a:t>
            </a:r>
            <a:pPr indent="0" marL="0">
              <a:buNone/>
            </a:pPr>
            <a:r>
              <a:rPr lang="en-US" sz="3200" dirty="0">
                <a:solidFill>
                  <a:schemeClr val="accent1"/>
                </a:solidFill>
                <a:latin typeface="+mj-lt" pitchFamily="34" charset="0"/>
                <a:ea typeface="+mj-lt" pitchFamily="34" charset="-122"/>
                <a:cs typeface="+mj-lt" pitchFamily="34" charset="-120"/>
              </a:rPr>
              <a:t> lakh</a:t>
            </a:r>
            <a:endParaRPr lang="en-US" sz="2400" dirty="0"/>
          </a:p>
        </p:txBody>
      </p:sp>
      <p:sp>
        <p:nvSpPr>
          <p:cNvPr id="15" name="text-55"/>
          <p:cNvSpPr txBox="1"/>
          <p:nvPr/>
        </p:nvSpPr>
        <p:spPr>
          <a:xfrm>
            <a:off x="8447837" y="2880360"/>
            <a:ext cx="2875178" cy="1554480"/>
          </a:xfrm>
          <a:prstGeom prst="rect">
            <a:avLst/>
          </a:prstGeom>
          <a:noFill/>
          <a:ln/>
        </p:spPr>
        <p:txBody>
          <a:bodyPr wrap="square" lIns="0" tIns="0" rIns="0" bIns="0" rtlCol="0" anchor="t"/>
          <a:lstStyle/>
          <a:p>
            <a:pPr indent="0" marL="0">
              <a:buNone/>
            </a:pPr>
            <a:r>
              <a:rPr lang="en-US" sz="2400" dirty="0">
                <a:solidFill>
                  <a:schemeClr val="tx1"/>
                </a:solidFill>
              </a:rPr>
              <a:t>micro food enterprises already supported by the PMFME scheme</a:t>
            </a:r>
            <a:endParaRPr lang="en-US" sz="2400" dirty="0"/>
          </a:p>
        </p:txBody>
      </p:sp>
      <p:sp>
        <p:nvSpPr>
          <p:cNvPr id="16" name="text-56"/>
          <p:cNvSpPr txBox="1"/>
          <p:nvPr/>
        </p:nvSpPr>
        <p:spPr>
          <a:xfrm>
            <a:off x="8447837" y="4663440"/>
            <a:ext cx="2875178" cy="685800"/>
          </a:xfrm>
          <a:prstGeom prst="rect">
            <a:avLst/>
          </a:prstGeom>
          <a:noFill/>
          <a:ln/>
        </p:spPr>
        <p:txBody>
          <a:bodyPr wrap="square" lIns="0" tIns="0" rIns="0" bIns="0" rtlCol="0" anchor="t"/>
          <a:lstStyle/>
          <a:p>
            <a:pPr indent="0" marL="0">
              <a:buNone/>
            </a:pPr>
            <a:r>
              <a:rPr lang="en-US" sz="2400" b="1" dirty="0">
                <a:solidFill>
                  <a:schemeClr val="accent1"/>
                </a:solidFill>
              </a:rPr>
              <a:t>The demand to formalise is real</a:t>
            </a:r>
            <a:endParaRPr lang="en-US" sz="2400" dirty="0"/>
          </a:p>
        </p:txBody>
      </p:sp>
      <p:sp>
        <p:nvSpPr>
          <p:cNvPr id="17" name="text-57"/>
          <p:cNvSpPr txBox="1"/>
          <p:nvPr/>
        </p:nvSpPr>
        <p:spPr>
          <a:xfrm>
            <a:off x="548640" y="5760720"/>
            <a:ext cx="11094415" cy="502920"/>
          </a:xfrm>
          <a:prstGeom prst="rect">
            <a:avLst/>
          </a:prstGeom>
          <a:noFill/>
          <a:ln/>
        </p:spPr>
        <p:txBody>
          <a:bodyPr wrap="square" lIns="0" tIns="0" rIns="0" bIns="0" rtlCol="0" anchor="b"/>
          <a:lstStyle/>
          <a:p>
            <a:pPr indent="0" marL="0">
              <a:buNone/>
            </a:pPr>
            <a:r>
              <a:rPr lang="en-US" sz="1200" dirty="0">
                <a:solidFill>
                  <a:schemeClr val="tx2"/>
                </a:solidFill>
              </a:rPr>
              <a:t>Sources: Cabinet approval of the PMFME scheme, pmindia.gov.in (May 2020; estimates from NSSO 73rd round and ASI 2015-16). PMFME progress: MoFPI media briefing, May 2026, as reported by KNN India.</a:t>
            </a:r>
            <a:endParaRPr lang="en-US" sz="12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Why it's still unsolved</a:t>
            </a:r>
            <a:endParaRPr lang="en-US" sz="3800" dirty="0"/>
          </a:p>
        </p:txBody>
      </p:sp>
      <p:sp>
        <p:nvSpPr>
          <p:cNvPr id="3" name="text-58"/>
          <p:cNvSpPr txBox="1"/>
          <p:nvPr/>
        </p:nvSpPr>
        <p:spPr>
          <a:xfrm>
            <a:off x="548640" y="1280160"/>
            <a:ext cx="11094415" cy="777240"/>
          </a:xfrm>
          <a:prstGeom prst="rect">
            <a:avLst/>
          </a:prstGeom>
          <a:noFill/>
          <a:ln/>
        </p:spPr>
        <p:txBody>
          <a:bodyPr wrap="square" lIns="0" tIns="0" rIns="0" bIns="0" rtlCol="0" anchor="t"/>
          <a:lstStyle/>
          <a:p>
            <a:pPr indent="0" marL="0">
              <a:buNone/>
            </a:pPr>
            <a:r>
              <a:rPr lang="en-US" sz="2400" dirty="0">
                <a:solidFill>
                  <a:schemeClr val="tx1"/>
                </a:solidFill>
              </a:rPr>
              <a:t>Each step alone is easy. Together, in English forms and regulation PDFs, they lock her out.</a:t>
            </a:r>
            <a:endParaRPr lang="en-US" sz="2400" dirty="0"/>
          </a:p>
        </p:txBody>
      </p:sp>
      <p:sp>
        <p:nvSpPr>
          <p:cNvPr id="4" name="card-59"/>
          <p:cNvSpPr/>
          <p:nvPr/>
        </p:nvSpPr>
        <p:spPr>
          <a:xfrm>
            <a:off x="548640" y="2148840"/>
            <a:ext cx="2567864" cy="269748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5" name="icon-bg-60"/>
          <p:cNvSpPr/>
          <p:nvPr/>
        </p:nvSpPr>
        <p:spPr>
          <a:xfrm>
            <a:off x="804672" y="2377440"/>
            <a:ext cx="548640" cy="548640"/>
          </a:xfrm>
          <a:prstGeom prst="ellipse">
            <a:avLst/>
          </a:prstGeom>
          <a:solidFill>
            <a:schemeClr val="accent1"/>
          </a:solidFill>
          <a:ln/>
        </p:spPr>
      </p:sp>
      <p:pic>
        <p:nvPicPr>
          <p:cNvPr id="6" name="icon-61" descr="FileCheck icon">    </p:cNvPr>
          <p:cNvPicPr>
            <a:picLocks noChangeAspect="1"/>
          </p:cNvPicPr>
          <p:nvPr/>
        </p:nvPicPr>
        <p:blipFill>
          <a:blip r:embed="rId1"/>
          <a:stretch>
            <a:fillRect/>
          </a:stretch>
        </p:blipFill>
        <p:spPr>
          <a:xfrm>
            <a:off x="936346" y="2509114"/>
            <a:ext cx="285293" cy="285293"/>
          </a:xfrm>
          <a:prstGeom prst="rect">
            <a:avLst/>
          </a:prstGeom>
        </p:spPr>
      </p:pic>
      <p:sp>
        <p:nvSpPr>
          <p:cNvPr id="7" name="text-62"/>
          <p:cNvSpPr txBox="1"/>
          <p:nvPr/>
        </p:nvSpPr>
        <p:spPr>
          <a:xfrm>
            <a:off x="804672" y="3017520"/>
            <a:ext cx="2110664" cy="411480"/>
          </a:xfrm>
          <a:prstGeom prst="rect">
            <a:avLst/>
          </a:prstGeom>
          <a:noFill/>
          <a:ln/>
        </p:spPr>
        <p:txBody>
          <a:bodyPr wrap="square" lIns="0" tIns="0" rIns="0" bIns="0" rtlCol="0" anchor="ctr"/>
          <a:lstStyle/>
          <a:p>
            <a:pPr indent="0" marL="0">
              <a:buNone/>
            </a:pPr>
            <a:r>
              <a:rPr lang="en-US" sz="2400" b="1" dirty="0">
                <a:solidFill>
                  <a:schemeClr val="tx1"/>
                </a:solidFill>
              </a:rPr>
              <a:t>Registration</a:t>
            </a:r>
            <a:endParaRPr lang="en-US" sz="2400" dirty="0"/>
          </a:p>
        </p:txBody>
      </p:sp>
      <p:sp>
        <p:nvSpPr>
          <p:cNvPr id="8" name="text-63"/>
          <p:cNvSpPr txBox="1"/>
          <p:nvPr/>
        </p:nvSpPr>
        <p:spPr>
          <a:xfrm>
            <a:off x="804672" y="3474720"/>
            <a:ext cx="2110664" cy="1188720"/>
          </a:xfrm>
          <a:prstGeom prst="rect">
            <a:avLst/>
          </a:prstGeom>
          <a:noFill/>
          <a:ln/>
        </p:spPr>
        <p:txBody>
          <a:bodyPr wrap="square" lIns="0" tIns="0" rIns="0" bIns="0" rtlCol="0" anchor="t"/>
          <a:lstStyle/>
          <a:p>
            <a:pPr indent="0" marL="0">
              <a:buNone/>
            </a:pPr>
            <a:r>
              <a:rPr lang="en-US" sz="2000" dirty="0">
                <a:solidFill>
                  <a:schemeClr val="tx2"/>
                </a:solidFill>
              </a:rPr>
              <a:t>Which one? What documents?</a:t>
            </a:r>
            <a:endParaRPr lang="en-US" sz="2000" dirty="0"/>
          </a:p>
        </p:txBody>
      </p:sp>
      <p:sp>
        <p:nvSpPr>
          <p:cNvPr id="9" name="card-64"/>
          <p:cNvSpPr/>
          <p:nvPr/>
        </p:nvSpPr>
        <p:spPr>
          <a:xfrm>
            <a:off x="3390824" y="2148840"/>
            <a:ext cx="2567864" cy="269748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10" name="icon-bg-65"/>
          <p:cNvSpPr/>
          <p:nvPr/>
        </p:nvSpPr>
        <p:spPr>
          <a:xfrm>
            <a:off x="3646856" y="2377440"/>
            <a:ext cx="548640" cy="548640"/>
          </a:xfrm>
          <a:prstGeom prst="ellipse">
            <a:avLst/>
          </a:prstGeom>
          <a:solidFill>
            <a:schemeClr val="accent1"/>
          </a:solidFill>
          <a:ln/>
        </p:spPr>
      </p:sp>
      <p:pic>
        <p:nvPicPr>
          <p:cNvPr id="11" name="icon-66" descr="Tag icon">    </p:cNvPr>
          <p:cNvPicPr>
            <a:picLocks noChangeAspect="1"/>
          </p:cNvPicPr>
          <p:nvPr/>
        </p:nvPicPr>
        <p:blipFill>
          <a:blip r:embed="rId2"/>
          <a:stretch>
            <a:fillRect/>
          </a:stretch>
        </p:blipFill>
        <p:spPr>
          <a:xfrm>
            <a:off x="3778529" y="2509114"/>
            <a:ext cx="285293" cy="285293"/>
          </a:xfrm>
          <a:prstGeom prst="rect">
            <a:avLst/>
          </a:prstGeom>
        </p:spPr>
      </p:pic>
      <p:sp>
        <p:nvSpPr>
          <p:cNvPr id="12" name="text-67"/>
          <p:cNvSpPr txBox="1"/>
          <p:nvPr/>
        </p:nvSpPr>
        <p:spPr>
          <a:xfrm>
            <a:off x="3646856" y="3017520"/>
            <a:ext cx="2110664" cy="411480"/>
          </a:xfrm>
          <a:prstGeom prst="rect">
            <a:avLst/>
          </a:prstGeom>
          <a:noFill/>
          <a:ln/>
        </p:spPr>
        <p:txBody>
          <a:bodyPr wrap="square" lIns="0" tIns="0" rIns="0" bIns="0" rtlCol="0" anchor="ctr"/>
          <a:lstStyle/>
          <a:p>
            <a:pPr indent="0" marL="0">
              <a:buNone/>
            </a:pPr>
            <a:r>
              <a:rPr lang="en-US" sz="2400" b="1" dirty="0">
                <a:solidFill>
                  <a:schemeClr val="tx1"/>
                </a:solidFill>
              </a:rPr>
              <a:t>Label</a:t>
            </a:r>
            <a:endParaRPr lang="en-US" sz="2400" dirty="0"/>
          </a:p>
        </p:txBody>
      </p:sp>
      <p:sp>
        <p:nvSpPr>
          <p:cNvPr id="13" name="text-68"/>
          <p:cNvSpPr txBox="1"/>
          <p:nvPr/>
        </p:nvSpPr>
        <p:spPr>
          <a:xfrm>
            <a:off x="3646856" y="3474720"/>
            <a:ext cx="2110664" cy="1188720"/>
          </a:xfrm>
          <a:prstGeom prst="rect">
            <a:avLst/>
          </a:prstGeom>
          <a:noFill/>
          <a:ln/>
        </p:spPr>
        <p:txBody>
          <a:bodyPr wrap="square" lIns="0" tIns="0" rIns="0" bIns="0" rtlCol="0" anchor="t"/>
          <a:lstStyle/>
          <a:p>
            <a:pPr indent="0" marL="0">
              <a:buNone/>
            </a:pPr>
            <a:r>
              <a:rPr lang="en-US" sz="2000" dirty="0">
                <a:solidFill>
                  <a:schemeClr val="tx2"/>
                </a:solidFill>
              </a:rPr>
              <a:t>Weight order, allergens, nutrition, batch, dates</a:t>
            </a:r>
            <a:endParaRPr lang="en-US" sz="2000" dirty="0"/>
          </a:p>
        </p:txBody>
      </p:sp>
      <p:sp>
        <p:nvSpPr>
          <p:cNvPr id="14" name="card-69"/>
          <p:cNvSpPr/>
          <p:nvPr/>
        </p:nvSpPr>
        <p:spPr>
          <a:xfrm>
            <a:off x="6233008" y="2148840"/>
            <a:ext cx="2567864" cy="269748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15" name="icon-bg-70"/>
          <p:cNvSpPr/>
          <p:nvPr/>
        </p:nvSpPr>
        <p:spPr>
          <a:xfrm>
            <a:off x="6489040" y="2377440"/>
            <a:ext cx="548640" cy="548640"/>
          </a:xfrm>
          <a:prstGeom prst="ellipse">
            <a:avLst/>
          </a:prstGeom>
          <a:solidFill>
            <a:schemeClr val="accent1"/>
          </a:solidFill>
          <a:ln/>
        </p:spPr>
      </p:sp>
      <p:pic>
        <p:nvPicPr>
          <p:cNvPr id="16" name="icon-71" descr="Calculator icon">    </p:cNvPr>
          <p:cNvPicPr>
            <a:picLocks noChangeAspect="1"/>
          </p:cNvPicPr>
          <p:nvPr/>
        </p:nvPicPr>
        <p:blipFill>
          <a:blip r:embed="rId3"/>
          <a:stretch>
            <a:fillRect/>
          </a:stretch>
        </p:blipFill>
        <p:spPr>
          <a:xfrm>
            <a:off x="6620713" y="2509114"/>
            <a:ext cx="285293" cy="285293"/>
          </a:xfrm>
          <a:prstGeom prst="rect">
            <a:avLst/>
          </a:prstGeom>
        </p:spPr>
      </p:pic>
      <p:sp>
        <p:nvSpPr>
          <p:cNvPr id="17" name="text-72"/>
          <p:cNvSpPr txBox="1"/>
          <p:nvPr/>
        </p:nvSpPr>
        <p:spPr>
          <a:xfrm>
            <a:off x="6489040" y="3017520"/>
            <a:ext cx="2110664" cy="411480"/>
          </a:xfrm>
          <a:prstGeom prst="rect">
            <a:avLst/>
          </a:prstGeom>
          <a:noFill/>
          <a:ln/>
        </p:spPr>
        <p:txBody>
          <a:bodyPr wrap="square" lIns="0" tIns="0" rIns="0" bIns="0" rtlCol="0" anchor="ctr"/>
          <a:lstStyle/>
          <a:p>
            <a:pPr indent="0" marL="0">
              <a:buNone/>
            </a:pPr>
            <a:r>
              <a:rPr lang="en-US" sz="2400" b="1" dirty="0">
                <a:solidFill>
                  <a:schemeClr val="tx1"/>
                </a:solidFill>
              </a:rPr>
              <a:t>Costing</a:t>
            </a:r>
            <a:endParaRPr lang="en-US" sz="2400" dirty="0"/>
          </a:p>
        </p:txBody>
      </p:sp>
      <p:sp>
        <p:nvSpPr>
          <p:cNvPr id="18" name="text-73"/>
          <p:cNvSpPr txBox="1"/>
          <p:nvPr/>
        </p:nvSpPr>
        <p:spPr>
          <a:xfrm>
            <a:off x="6489040" y="3474720"/>
            <a:ext cx="2110664" cy="1188720"/>
          </a:xfrm>
          <a:prstGeom prst="rect">
            <a:avLst/>
          </a:prstGeom>
          <a:noFill/>
          <a:ln/>
        </p:spPr>
        <p:txBody>
          <a:bodyPr wrap="square" lIns="0" tIns="0" rIns="0" bIns="0" rtlCol="0" anchor="t"/>
          <a:lstStyle/>
          <a:p>
            <a:pPr indent="0" marL="0">
              <a:buNone/>
            </a:pPr>
            <a:r>
              <a:rPr lang="en-US" sz="2000" dirty="0">
                <a:solidFill>
                  <a:schemeClr val="tx2"/>
                </a:solidFill>
              </a:rPr>
              <a:t>Does her price even cover cost?</a:t>
            </a:r>
            <a:endParaRPr lang="en-US" sz="2000" dirty="0"/>
          </a:p>
        </p:txBody>
      </p:sp>
      <p:sp>
        <p:nvSpPr>
          <p:cNvPr id="19" name="card-74"/>
          <p:cNvSpPr/>
          <p:nvPr/>
        </p:nvSpPr>
        <p:spPr>
          <a:xfrm>
            <a:off x="9075191" y="2148840"/>
            <a:ext cx="2567864" cy="269748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20" name="icon-bg-75"/>
          <p:cNvSpPr/>
          <p:nvPr/>
        </p:nvSpPr>
        <p:spPr>
          <a:xfrm>
            <a:off x="9331223" y="2377440"/>
            <a:ext cx="548640" cy="548640"/>
          </a:xfrm>
          <a:prstGeom prst="ellipse">
            <a:avLst/>
          </a:prstGeom>
          <a:solidFill>
            <a:schemeClr val="accent1"/>
          </a:solidFill>
          <a:ln/>
        </p:spPr>
      </p:sp>
      <p:pic>
        <p:nvPicPr>
          <p:cNvPr id="21" name="icon-76" descr="ClipboardList icon">    </p:cNvPr>
          <p:cNvPicPr>
            <a:picLocks noChangeAspect="1"/>
          </p:cNvPicPr>
          <p:nvPr/>
        </p:nvPicPr>
        <p:blipFill>
          <a:blip r:embed="rId4"/>
          <a:stretch>
            <a:fillRect/>
          </a:stretch>
        </p:blipFill>
        <p:spPr>
          <a:xfrm>
            <a:off x="9462897" y="2509114"/>
            <a:ext cx="285293" cy="285293"/>
          </a:xfrm>
          <a:prstGeom prst="rect">
            <a:avLst/>
          </a:prstGeom>
        </p:spPr>
      </p:pic>
      <p:sp>
        <p:nvSpPr>
          <p:cNvPr id="22" name="text-77"/>
          <p:cNvSpPr txBox="1"/>
          <p:nvPr/>
        </p:nvSpPr>
        <p:spPr>
          <a:xfrm>
            <a:off x="9331223" y="3017520"/>
            <a:ext cx="2110664" cy="411480"/>
          </a:xfrm>
          <a:prstGeom prst="rect">
            <a:avLst/>
          </a:prstGeom>
          <a:noFill/>
          <a:ln/>
        </p:spPr>
        <p:txBody>
          <a:bodyPr wrap="square" lIns="0" tIns="0" rIns="0" bIns="0" rtlCol="0" anchor="ctr"/>
          <a:lstStyle/>
          <a:p>
            <a:pPr indent="0" marL="0">
              <a:buNone/>
            </a:pPr>
            <a:r>
              <a:rPr lang="en-US" sz="2400" b="1" dirty="0">
                <a:solidFill>
                  <a:schemeClr val="tx1"/>
                </a:solidFill>
              </a:rPr>
              <a:t>Records</a:t>
            </a:r>
            <a:endParaRPr lang="en-US" sz="2400" dirty="0"/>
          </a:p>
        </p:txBody>
      </p:sp>
      <p:sp>
        <p:nvSpPr>
          <p:cNvPr id="23" name="text-78"/>
          <p:cNvSpPr txBox="1"/>
          <p:nvPr/>
        </p:nvSpPr>
        <p:spPr>
          <a:xfrm>
            <a:off x="9331223" y="3474720"/>
            <a:ext cx="2110664" cy="1188720"/>
          </a:xfrm>
          <a:prstGeom prst="rect">
            <a:avLst/>
          </a:prstGeom>
          <a:noFill/>
          <a:ln/>
        </p:spPr>
        <p:txBody>
          <a:bodyPr wrap="square" lIns="0" tIns="0" rIns="0" bIns="0" rtlCol="0" anchor="t"/>
          <a:lstStyle/>
          <a:p>
            <a:pPr indent="0" marL="0">
              <a:buNone/>
            </a:pPr>
            <a:r>
              <a:rPr lang="en-US" sz="2000" dirty="0">
                <a:solidFill>
                  <a:schemeClr val="tx2"/>
                </a:solidFill>
              </a:rPr>
              <a:t>Which batch went to whom?</a:t>
            </a:r>
            <a:endParaRPr lang="en-US" sz="2000" dirty="0"/>
          </a:p>
        </p:txBody>
      </p:sp>
      <p:sp>
        <p:nvSpPr>
          <p:cNvPr id="24" name="text-79"/>
          <p:cNvSpPr txBox="1"/>
          <p:nvPr/>
        </p:nvSpPr>
        <p:spPr>
          <a:xfrm>
            <a:off x="548640" y="5074920"/>
            <a:ext cx="6263640" cy="1097280"/>
          </a:xfrm>
          <a:prstGeom prst="rect">
            <a:avLst/>
          </a:prstGeom>
          <a:noFill/>
          <a:ln/>
        </p:spPr>
        <p:txBody>
          <a:bodyPr wrap="square" lIns="0" tIns="0" rIns="0" bIns="0" rtlCol="0" anchor="ctr"/>
          <a:lstStyle/>
          <a:p>
            <a:pPr indent="0" marL="0">
              <a:buNone/>
            </a:pPr>
            <a:r>
              <a:rPr lang="en-US" sz="2000" b="1" dirty="0">
                <a:solidFill>
                  <a:schemeClr val="tx1"/>
                </a:solidFill>
              </a:rPr>
              <a:t>What exists today: </a:t>
            </a:r>
            <a:pPr indent="0" marL="0">
              <a:buNone/>
            </a:pPr>
            <a:r>
              <a:rPr lang="en-US" sz="2000" dirty="0">
                <a:solidFill>
                  <a:schemeClr val="tx1"/>
                </a:solidFill>
              </a:rPr>
              <a:t>consultants charge per registration, then stop. Canva doesn't know the rules. Billing apps skip compliance.</a:t>
            </a:r>
            <a:endParaRPr lang="en-US" sz="2000" dirty="0"/>
          </a:p>
        </p:txBody>
      </p:sp>
      <p:sp>
        <p:nvSpPr>
          <p:cNvPr id="25" name="card-80"/>
          <p:cNvSpPr/>
          <p:nvPr/>
        </p:nvSpPr>
        <p:spPr>
          <a:xfrm>
            <a:off x="7086600" y="5074920"/>
            <a:ext cx="4556455" cy="1097280"/>
          </a:xfrm>
          <a:prstGeom prst="roundRect">
            <a:avLst>
              <a:gd name="adj" fmla="val 11667"/>
            </a:avLst>
          </a:prstGeom>
          <a:solidFill>
            <a:schemeClr val="accent1"/>
          </a:solidFill>
          <a:ln/>
          <a:effectLst>
            <a:outerShdw sx="100000" sy="100000" kx="0" ky="0" algn="bl" rotWithShape="0" blurRad="127000" dist="25400" dir="5400000">
              <a:srgbClr val="1E1B18">
                <a:alpha val="10000"/>
              </a:srgbClr>
            </a:outerShdw>
          </a:effectLst>
        </p:spPr>
      </p:sp>
      <p:sp>
        <p:nvSpPr>
          <p:cNvPr id="26" name="text-81"/>
          <p:cNvSpPr txBox="1"/>
          <p:nvPr/>
        </p:nvSpPr>
        <p:spPr>
          <a:xfrm>
            <a:off x="7406640" y="5074920"/>
            <a:ext cx="3916375" cy="1097280"/>
          </a:xfrm>
          <a:prstGeom prst="rect">
            <a:avLst/>
          </a:prstGeom>
          <a:noFill/>
          <a:ln/>
        </p:spPr>
        <p:txBody>
          <a:bodyPr wrap="square" lIns="0" tIns="0" rIns="0" bIns="0" rtlCol="0" anchor="ctr"/>
          <a:lstStyle/>
          <a:p>
            <a:pPr indent="0" marL="0">
              <a:buNone/>
            </a:pPr>
            <a:r>
              <a:rPr lang="en-US" sz="2400" b="1" dirty="0">
                <a:solidFill>
                  <a:schemeClr val="bg2"/>
                </a:solidFill>
              </a:rPr>
              <a:t>Nobody joins it up, in Hindi, by voice.</a:t>
            </a:r>
            <a:endParaRPr lang="en-US" sz="24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GharSe: a Hindi-first AI agent on WhatsApp</a:t>
            </a:r>
            <a:endParaRPr lang="en-US" sz="3800" dirty="0"/>
          </a:p>
        </p:txBody>
      </p:sp>
      <p:sp>
        <p:nvSpPr>
          <p:cNvPr id="3" name="text-82"/>
          <p:cNvSpPr txBox="1"/>
          <p:nvPr/>
        </p:nvSpPr>
        <p:spPr>
          <a:xfrm>
            <a:off x="548640" y="1280160"/>
            <a:ext cx="11094415" cy="640080"/>
          </a:xfrm>
          <a:prstGeom prst="rect">
            <a:avLst/>
          </a:prstGeom>
          <a:noFill/>
          <a:ln/>
        </p:spPr>
        <p:txBody>
          <a:bodyPr wrap="square" lIns="0" tIns="0" rIns="0" bIns="0" rtlCol="0" anchor="ctr"/>
          <a:lstStyle/>
          <a:p>
            <a:pPr indent="0" marL="0">
              <a:buNone/>
            </a:pPr>
            <a:r>
              <a:rPr lang="en-US" sz="2800" i="1" dirty="0">
                <a:solidFill>
                  <a:schemeClr val="accent1"/>
                </a:solidFill>
                <a:latin typeface="+mj-lt" pitchFamily="34" charset="0"/>
                <a:ea typeface="+mj-lt" pitchFamily="34" charset="-122"/>
                <a:cs typeface="+mj-lt" pitchFamily="34" charset="-120"/>
              </a:rPr>
              <a:t>She sends one voice note. GharSe makes her product shelf-ready.</a:t>
            </a:r>
            <a:endParaRPr lang="en-US" sz="2800" dirty="0"/>
          </a:p>
        </p:txBody>
      </p:sp>
      <p:sp>
        <p:nvSpPr>
          <p:cNvPr id="4" name="card-83"/>
          <p:cNvSpPr/>
          <p:nvPr/>
        </p:nvSpPr>
        <p:spPr>
          <a:xfrm>
            <a:off x="548640" y="2194560"/>
            <a:ext cx="4206240" cy="960120"/>
          </a:xfrm>
          <a:prstGeom prst="roundRect">
            <a:avLst>
              <a:gd name="adj" fmla="val 13333"/>
            </a:avLst>
          </a:prstGeom>
          <a:solidFill>
            <a:schemeClr val="bg1"/>
          </a:solidFill>
          <a:ln/>
          <a:effectLst>
            <a:outerShdw sx="100000" sy="100000" kx="0" ky="0" algn="bl" rotWithShape="0" blurRad="127000" dist="25400" dir="5400000">
              <a:srgbClr val="1E1B18">
                <a:alpha val="10000"/>
              </a:srgbClr>
            </a:outerShdw>
          </a:effectLst>
        </p:spPr>
      </p:sp>
      <p:sp>
        <p:nvSpPr>
          <p:cNvPr id="5" name="icon-bg-84"/>
          <p:cNvSpPr/>
          <p:nvPr/>
        </p:nvSpPr>
        <p:spPr>
          <a:xfrm>
            <a:off x="777240" y="2395728"/>
            <a:ext cx="548640" cy="548640"/>
          </a:xfrm>
          <a:prstGeom prst="ellipse">
            <a:avLst/>
          </a:prstGeom>
          <a:solidFill>
            <a:schemeClr val="accent3"/>
          </a:solidFill>
          <a:ln/>
        </p:spPr>
      </p:sp>
      <p:pic>
        <p:nvPicPr>
          <p:cNvPr id="6" name="icon-85" descr="Mic icon">    </p:cNvPr>
          <p:cNvPicPr>
            <a:picLocks noChangeAspect="1"/>
          </p:cNvPicPr>
          <p:nvPr/>
        </p:nvPicPr>
        <p:blipFill>
          <a:blip r:embed="rId1"/>
          <a:stretch>
            <a:fillRect/>
          </a:stretch>
        </p:blipFill>
        <p:spPr>
          <a:xfrm>
            <a:off x="908914" y="2527402"/>
            <a:ext cx="285293" cy="285293"/>
          </a:xfrm>
          <a:prstGeom prst="rect">
            <a:avLst/>
          </a:prstGeom>
        </p:spPr>
      </p:pic>
      <p:sp>
        <p:nvSpPr>
          <p:cNvPr id="7" name="icon-bg-86"/>
          <p:cNvSpPr/>
          <p:nvPr/>
        </p:nvSpPr>
        <p:spPr>
          <a:xfrm>
            <a:off x="1417320" y="2395728"/>
            <a:ext cx="548640" cy="548640"/>
          </a:xfrm>
          <a:prstGeom prst="ellipse">
            <a:avLst/>
          </a:prstGeom>
          <a:solidFill>
            <a:schemeClr val="accent3"/>
          </a:solidFill>
          <a:ln/>
        </p:spPr>
      </p:sp>
      <p:pic>
        <p:nvPicPr>
          <p:cNvPr id="8" name="icon-87" descr="Camera icon">    </p:cNvPr>
          <p:cNvPicPr>
            <a:picLocks noChangeAspect="1"/>
          </p:cNvPicPr>
          <p:nvPr/>
        </p:nvPicPr>
        <p:blipFill>
          <a:blip r:embed="rId2"/>
          <a:stretch>
            <a:fillRect/>
          </a:stretch>
        </p:blipFill>
        <p:spPr>
          <a:xfrm>
            <a:off x="1548994" y="2527402"/>
            <a:ext cx="285293" cy="285293"/>
          </a:xfrm>
          <a:prstGeom prst="rect">
            <a:avLst/>
          </a:prstGeom>
        </p:spPr>
      </p:pic>
      <p:sp>
        <p:nvSpPr>
          <p:cNvPr id="9" name="text-88"/>
          <p:cNvSpPr txBox="1"/>
          <p:nvPr/>
        </p:nvSpPr>
        <p:spPr>
          <a:xfrm>
            <a:off x="2148840" y="2194560"/>
            <a:ext cx="2468880" cy="960120"/>
          </a:xfrm>
          <a:prstGeom prst="rect">
            <a:avLst/>
          </a:prstGeom>
          <a:noFill/>
          <a:ln/>
        </p:spPr>
        <p:txBody>
          <a:bodyPr wrap="square" lIns="0" tIns="0" rIns="0" bIns="0" rtlCol="0" anchor="ctr"/>
          <a:lstStyle/>
          <a:p>
            <a:pPr indent="0" marL="0">
              <a:buNone/>
            </a:pPr>
            <a:r>
              <a:rPr lang="en-US" sz="2200" b="1" dirty="0">
                <a:solidFill>
                  <a:schemeClr val="tx1"/>
                </a:solidFill>
              </a:rPr>
              <a:t>Voice note or recipe photo</a:t>
            </a:r>
            <a:endParaRPr lang="en-US" sz="2200" dirty="0"/>
          </a:p>
        </p:txBody>
      </p:sp>
      <p:sp>
        <p:nvSpPr>
          <p:cNvPr id="10" name="arrow-89"/>
          <p:cNvSpPr/>
          <p:nvPr/>
        </p:nvSpPr>
        <p:spPr>
          <a:xfrm>
            <a:off x="4892040" y="2674620"/>
            <a:ext cx="822960" cy="0"/>
          </a:xfrm>
          <a:prstGeom prst="line">
            <a:avLst/>
          </a:prstGeom>
          <a:noFill/>
          <a:ln w="31750">
            <a:solidFill>
              <a:schemeClr val="accent1"/>
            </a:solidFill>
            <a:prstDash val="solid"/>
            <a:tailEnd type="triangle"/>
          </a:ln>
        </p:spPr>
      </p:sp>
      <p:sp>
        <p:nvSpPr>
          <p:cNvPr id="11" name="card-90"/>
          <p:cNvSpPr/>
          <p:nvPr/>
        </p:nvSpPr>
        <p:spPr>
          <a:xfrm>
            <a:off x="5852160" y="2194560"/>
            <a:ext cx="3200400" cy="960120"/>
          </a:xfrm>
          <a:prstGeom prst="roundRect">
            <a:avLst>
              <a:gd name="adj" fmla="val 13333"/>
            </a:avLst>
          </a:prstGeom>
          <a:solidFill>
            <a:schemeClr val="accent1"/>
          </a:solidFill>
          <a:ln/>
          <a:effectLst>
            <a:outerShdw sx="100000" sy="100000" kx="0" ky="0" algn="bl" rotWithShape="0" blurRad="127000" dist="25400" dir="5400000">
              <a:srgbClr val="1E1B18">
                <a:alpha val="10000"/>
              </a:srgbClr>
            </a:outerShdw>
          </a:effectLst>
        </p:spPr>
      </p:sp>
      <p:sp>
        <p:nvSpPr>
          <p:cNvPr id="12" name="text-91"/>
          <p:cNvSpPr txBox="1"/>
          <p:nvPr/>
        </p:nvSpPr>
        <p:spPr>
          <a:xfrm>
            <a:off x="5852160" y="2194560"/>
            <a:ext cx="3200400" cy="960120"/>
          </a:xfrm>
          <a:prstGeom prst="rect">
            <a:avLst/>
          </a:prstGeom>
          <a:noFill/>
          <a:ln/>
        </p:spPr>
        <p:txBody>
          <a:bodyPr wrap="square" lIns="0" tIns="0" rIns="0" bIns="0" rtlCol="0" anchor="ctr"/>
          <a:lstStyle/>
          <a:p>
            <a:pPr algn="ctr" indent="0" marL="0">
              <a:buNone/>
            </a:pPr>
            <a:r>
              <a:rPr lang="en-US" sz="3000" dirty="0">
                <a:solidFill>
                  <a:schemeClr val="bg2"/>
                </a:solidFill>
                <a:latin typeface="+mj-lt" pitchFamily="34" charset="0"/>
                <a:ea typeface="+mj-lt" pitchFamily="34" charset="-122"/>
                <a:cs typeface="+mj-lt" pitchFamily="34" charset="-120"/>
              </a:rPr>
              <a:t>GharSe agent</a:t>
            </a:r>
            <a:endParaRPr lang="en-US" sz="3000" dirty="0"/>
          </a:p>
        </p:txBody>
      </p:sp>
      <p:sp>
        <p:nvSpPr>
          <p:cNvPr id="13" name="arrow-92"/>
          <p:cNvSpPr/>
          <p:nvPr/>
        </p:nvSpPr>
        <p:spPr>
          <a:xfrm>
            <a:off x="9189720" y="2674620"/>
            <a:ext cx="868680" cy="0"/>
          </a:xfrm>
          <a:prstGeom prst="line">
            <a:avLst/>
          </a:prstGeom>
          <a:noFill/>
          <a:ln w="31750">
            <a:solidFill>
              <a:schemeClr val="accent1"/>
            </a:solidFill>
            <a:prstDash val="solid"/>
            <a:tailEnd type="triangle"/>
          </a:ln>
        </p:spPr>
      </p:sp>
      <p:sp>
        <p:nvSpPr>
          <p:cNvPr id="14" name="text-93"/>
          <p:cNvSpPr txBox="1"/>
          <p:nvPr/>
        </p:nvSpPr>
        <p:spPr>
          <a:xfrm>
            <a:off x="10149840" y="2194560"/>
            <a:ext cx="1493215" cy="960120"/>
          </a:xfrm>
          <a:prstGeom prst="rect">
            <a:avLst/>
          </a:prstGeom>
          <a:noFill/>
          <a:ln/>
        </p:spPr>
        <p:txBody>
          <a:bodyPr wrap="square" lIns="0" tIns="0" rIns="0" bIns="0" rtlCol="0" anchor="ctr"/>
          <a:lstStyle/>
          <a:p>
            <a:pPr indent="0" marL="0">
              <a:buNone/>
            </a:pPr>
            <a:r>
              <a:rPr lang="en-US" sz="2400" b="1" dirty="0">
                <a:solidFill>
                  <a:schemeClr val="accent1"/>
                </a:solidFill>
              </a:rPr>
              <a:t>6 outputs</a:t>
            </a:r>
            <a:endParaRPr lang="en-US" sz="2400" dirty="0"/>
          </a:p>
        </p:txBody>
      </p:sp>
      <p:sp>
        <p:nvSpPr>
          <p:cNvPr id="15" name="card-94"/>
          <p:cNvSpPr/>
          <p:nvPr/>
        </p:nvSpPr>
        <p:spPr>
          <a:xfrm>
            <a:off x="548640" y="352044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16" name="icon-bg-95"/>
          <p:cNvSpPr/>
          <p:nvPr/>
        </p:nvSpPr>
        <p:spPr>
          <a:xfrm>
            <a:off x="804672" y="3813048"/>
            <a:ext cx="603504" cy="603504"/>
          </a:xfrm>
          <a:prstGeom prst="ellipse">
            <a:avLst/>
          </a:prstGeom>
          <a:solidFill>
            <a:schemeClr val="accent1"/>
          </a:solidFill>
          <a:ln/>
        </p:spPr>
      </p:sp>
      <p:pic>
        <p:nvPicPr>
          <p:cNvPr id="17" name="icon-96" descr="IndianRupee icon">    </p:cNvPr>
          <p:cNvPicPr>
            <a:picLocks noChangeAspect="1"/>
          </p:cNvPicPr>
          <p:nvPr/>
        </p:nvPicPr>
        <p:blipFill>
          <a:blip r:embed="rId3"/>
          <a:stretch>
            <a:fillRect/>
          </a:stretch>
        </p:blipFill>
        <p:spPr>
          <a:xfrm>
            <a:off x="949513" y="3957889"/>
            <a:ext cx="313822" cy="313822"/>
          </a:xfrm>
          <a:prstGeom prst="rect">
            <a:avLst/>
          </a:prstGeom>
        </p:spPr>
      </p:pic>
      <p:sp>
        <p:nvSpPr>
          <p:cNvPr id="18" name="text-97"/>
          <p:cNvSpPr txBox="1"/>
          <p:nvPr/>
        </p:nvSpPr>
        <p:spPr>
          <a:xfrm>
            <a:off x="1600200" y="3520440"/>
            <a:ext cx="2235098" cy="1188720"/>
          </a:xfrm>
          <a:prstGeom prst="rect">
            <a:avLst/>
          </a:prstGeom>
          <a:noFill/>
          <a:ln/>
        </p:spPr>
        <p:txBody>
          <a:bodyPr wrap="square" lIns="0" tIns="0" rIns="0" bIns="0" rtlCol="0" anchor="ctr"/>
          <a:lstStyle/>
          <a:p>
            <a:pPr indent="0" marL="0">
              <a:buNone/>
            </a:pPr>
            <a:r>
              <a:rPr lang="en-US" sz="2200" dirty="0">
                <a:solidFill>
                  <a:schemeClr val="tx1"/>
                </a:solidFill>
              </a:rPr>
              <a:t>True cost + minimum price</a:t>
            </a:r>
            <a:endParaRPr lang="en-US" sz="2200" dirty="0"/>
          </a:p>
        </p:txBody>
      </p:sp>
      <p:sp>
        <p:nvSpPr>
          <p:cNvPr id="19" name="card-98"/>
          <p:cNvSpPr/>
          <p:nvPr/>
        </p:nvSpPr>
        <p:spPr>
          <a:xfrm>
            <a:off x="4338218" y="352044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20" name="icon-bg-99"/>
          <p:cNvSpPr/>
          <p:nvPr/>
        </p:nvSpPr>
        <p:spPr>
          <a:xfrm>
            <a:off x="4594250" y="3813048"/>
            <a:ext cx="603504" cy="603504"/>
          </a:xfrm>
          <a:prstGeom prst="ellipse">
            <a:avLst/>
          </a:prstGeom>
          <a:solidFill>
            <a:schemeClr val="accent1"/>
          </a:solidFill>
          <a:ln/>
        </p:spPr>
      </p:sp>
      <p:pic>
        <p:nvPicPr>
          <p:cNvPr id="21" name="icon-100" descr="Tag icon">    </p:cNvPr>
          <p:cNvPicPr>
            <a:picLocks noChangeAspect="1"/>
          </p:cNvPicPr>
          <p:nvPr/>
        </p:nvPicPr>
        <p:blipFill>
          <a:blip r:embed="rId4"/>
          <a:stretch>
            <a:fillRect/>
          </a:stretch>
        </p:blipFill>
        <p:spPr>
          <a:xfrm>
            <a:off x="4739091" y="3957889"/>
            <a:ext cx="313822" cy="313822"/>
          </a:xfrm>
          <a:prstGeom prst="rect">
            <a:avLst/>
          </a:prstGeom>
        </p:spPr>
      </p:pic>
      <p:sp>
        <p:nvSpPr>
          <p:cNvPr id="22" name="text-101"/>
          <p:cNvSpPr txBox="1"/>
          <p:nvPr/>
        </p:nvSpPr>
        <p:spPr>
          <a:xfrm>
            <a:off x="5389778" y="3520440"/>
            <a:ext cx="2235098" cy="1188720"/>
          </a:xfrm>
          <a:prstGeom prst="rect">
            <a:avLst/>
          </a:prstGeom>
          <a:noFill/>
          <a:ln/>
        </p:spPr>
        <p:txBody>
          <a:bodyPr wrap="square" lIns="0" tIns="0" rIns="0" bIns="0" rtlCol="0" anchor="ctr"/>
          <a:lstStyle/>
          <a:p>
            <a:pPr indent="0" marL="0">
              <a:buNone/>
            </a:pPr>
            <a:r>
              <a:rPr lang="en-US" sz="2200" dirty="0">
                <a:solidFill>
                  <a:schemeClr val="tx1"/>
                </a:solidFill>
              </a:rPr>
              <a:t>Draft label (PDF), FSSAI format</a:t>
            </a:r>
            <a:endParaRPr lang="en-US" sz="2200" dirty="0"/>
          </a:p>
        </p:txBody>
      </p:sp>
      <p:sp>
        <p:nvSpPr>
          <p:cNvPr id="23" name="card-102"/>
          <p:cNvSpPr/>
          <p:nvPr/>
        </p:nvSpPr>
        <p:spPr>
          <a:xfrm>
            <a:off x="8127797" y="352044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24" name="icon-bg-103"/>
          <p:cNvSpPr/>
          <p:nvPr/>
        </p:nvSpPr>
        <p:spPr>
          <a:xfrm>
            <a:off x="8383829" y="3813048"/>
            <a:ext cx="603504" cy="603504"/>
          </a:xfrm>
          <a:prstGeom prst="ellipse">
            <a:avLst/>
          </a:prstGeom>
          <a:solidFill>
            <a:schemeClr val="accent1"/>
          </a:solidFill>
          <a:ln/>
        </p:spPr>
      </p:sp>
      <p:pic>
        <p:nvPicPr>
          <p:cNvPr id="25" name="icon-104" descr="AudioLines icon">    </p:cNvPr>
          <p:cNvPicPr>
            <a:picLocks noChangeAspect="1"/>
          </p:cNvPicPr>
          <p:nvPr/>
        </p:nvPicPr>
        <p:blipFill>
          <a:blip r:embed="rId5"/>
          <a:stretch>
            <a:fillRect/>
          </a:stretch>
        </p:blipFill>
        <p:spPr>
          <a:xfrm>
            <a:off x="8528670" y="3957889"/>
            <a:ext cx="313822" cy="313822"/>
          </a:xfrm>
          <a:prstGeom prst="rect">
            <a:avLst/>
          </a:prstGeom>
        </p:spPr>
      </p:pic>
      <p:sp>
        <p:nvSpPr>
          <p:cNvPr id="26" name="text-105"/>
          <p:cNvSpPr txBox="1"/>
          <p:nvPr/>
        </p:nvSpPr>
        <p:spPr>
          <a:xfrm>
            <a:off x="9179357" y="3520440"/>
            <a:ext cx="2235098" cy="1188720"/>
          </a:xfrm>
          <a:prstGeom prst="rect">
            <a:avLst/>
          </a:prstGeom>
          <a:noFill/>
          <a:ln/>
        </p:spPr>
        <p:txBody>
          <a:bodyPr wrap="square" lIns="0" tIns="0" rIns="0" bIns="0" rtlCol="0" anchor="ctr"/>
          <a:lstStyle/>
          <a:p>
            <a:pPr indent="0" marL="0">
              <a:buNone/>
            </a:pPr>
            <a:r>
              <a:rPr lang="en-US" sz="2200" dirty="0">
                <a:solidFill>
                  <a:schemeClr val="tx1"/>
                </a:solidFill>
              </a:rPr>
              <a:t>Batch records by voice</a:t>
            </a:r>
            <a:endParaRPr lang="en-US" sz="2200" dirty="0"/>
          </a:p>
        </p:txBody>
      </p:sp>
      <p:sp>
        <p:nvSpPr>
          <p:cNvPr id="27" name="card-106"/>
          <p:cNvSpPr/>
          <p:nvPr/>
        </p:nvSpPr>
        <p:spPr>
          <a:xfrm>
            <a:off x="548640" y="498348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28" name="icon-bg-107"/>
          <p:cNvSpPr/>
          <p:nvPr/>
        </p:nvSpPr>
        <p:spPr>
          <a:xfrm>
            <a:off x="804672" y="5276088"/>
            <a:ext cx="603504" cy="603504"/>
          </a:xfrm>
          <a:prstGeom prst="ellipse">
            <a:avLst/>
          </a:prstGeom>
          <a:solidFill>
            <a:schemeClr val="accent1"/>
          </a:solidFill>
          <a:ln/>
        </p:spPr>
      </p:sp>
      <p:pic>
        <p:nvPicPr>
          <p:cNvPr id="29" name="icon-108" descr="ListChecks icon">    </p:cNvPr>
          <p:cNvPicPr>
            <a:picLocks noChangeAspect="1"/>
          </p:cNvPicPr>
          <p:nvPr/>
        </p:nvPicPr>
        <p:blipFill>
          <a:blip r:embed="rId6"/>
          <a:stretch>
            <a:fillRect/>
          </a:stretch>
        </p:blipFill>
        <p:spPr>
          <a:xfrm>
            <a:off x="949513" y="5420929"/>
            <a:ext cx="313822" cy="313822"/>
          </a:xfrm>
          <a:prstGeom prst="rect">
            <a:avLst/>
          </a:prstGeom>
        </p:spPr>
      </p:pic>
      <p:sp>
        <p:nvSpPr>
          <p:cNvPr id="30" name="text-109"/>
          <p:cNvSpPr txBox="1"/>
          <p:nvPr/>
        </p:nvSpPr>
        <p:spPr>
          <a:xfrm>
            <a:off x="1600200" y="4983480"/>
            <a:ext cx="2235098" cy="1188720"/>
          </a:xfrm>
          <a:prstGeom prst="rect">
            <a:avLst/>
          </a:prstGeom>
          <a:noFill/>
          <a:ln/>
        </p:spPr>
        <p:txBody>
          <a:bodyPr wrap="square" lIns="0" tIns="0" rIns="0" bIns="0" rtlCol="0" anchor="ctr"/>
          <a:lstStyle/>
          <a:p>
            <a:pPr indent="0" marL="0">
              <a:buNone/>
            </a:pPr>
            <a:r>
              <a:rPr lang="en-US" sz="2200" dirty="0">
                <a:solidFill>
                  <a:schemeClr val="tx1"/>
                </a:solidFill>
              </a:rPr>
              <a:t>Registration checklist</a:t>
            </a:r>
            <a:endParaRPr lang="en-US" sz="2200" dirty="0"/>
          </a:p>
        </p:txBody>
      </p:sp>
      <p:sp>
        <p:nvSpPr>
          <p:cNvPr id="31" name="card-110"/>
          <p:cNvSpPr/>
          <p:nvPr/>
        </p:nvSpPr>
        <p:spPr>
          <a:xfrm>
            <a:off x="4338218" y="498348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32" name="icon-bg-111"/>
          <p:cNvSpPr/>
          <p:nvPr/>
        </p:nvSpPr>
        <p:spPr>
          <a:xfrm>
            <a:off x="4594250" y="5276088"/>
            <a:ext cx="603504" cy="603504"/>
          </a:xfrm>
          <a:prstGeom prst="ellipse">
            <a:avLst/>
          </a:prstGeom>
          <a:solidFill>
            <a:schemeClr val="accent1"/>
          </a:solidFill>
          <a:ln/>
        </p:spPr>
      </p:sp>
      <p:pic>
        <p:nvPicPr>
          <p:cNvPr id="33" name="icon-112" descr="Store icon">    </p:cNvPr>
          <p:cNvPicPr>
            <a:picLocks noChangeAspect="1"/>
          </p:cNvPicPr>
          <p:nvPr/>
        </p:nvPicPr>
        <p:blipFill>
          <a:blip r:embed="rId7"/>
          <a:stretch>
            <a:fillRect/>
          </a:stretch>
        </p:blipFill>
        <p:spPr>
          <a:xfrm>
            <a:off x="4739091" y="5420929"/>
            <a:ext cx="313822" cy="313822"/>
          </a:xfrm>
          <a:prstGeom prst="rect">
            <a:avLst/>
          </a:prstGeom>
        </p:spPr>
      </p:pic>
      <p:sp>
        <p:nvSpPr>
          <p:cNvPr id="34" name="text-113"/>
          <p:cNvSpPr txBox="1"/>
          <p:nvPr/>
        </p:nvSpPr>
        <p:spPr>
          <a:xfrm>
            <a:off x="5389778" y="4983480"/>
            <a:ext cx="2235098" cy="1188720"/>
          </a:xfrm>
          <a:prstGeom prst="rect">
            <a:avLst/>
          </a:prstGeom>
          <a:noFill/>
          <a:ln/>
        </p:spPr>
        <p:txBody>
          <a:bodyPr wrap="square" lIns="0" tIns="0" rIns="0" bIns="0" rtlCol="0" anchor="ctr"/>
          <a:lstStyle/>
          <a:p>
            <a:pPr indent="0" marL="0">
              <a:buNone/>
            </a:pPr>
            <a:r>
              <a:rPr lang="en-US" sz="2200" dirty="0">
                <a:solidFill>
                  <a:schemeClr val="tx1"/>
                </a:solidFill>
              </a:rPr>
              <a:t>Listing pack, Hindi + English</a:t>
            </a:r>
            <a:endParaRPr lang="en-US" sz="2200" dirty="0"/>
          </a:p>
        </p:txBody>
      </p:sp>
      <p:sp>
        <p:nvSpPr>
          <p:cNvPr id="35" name="card-114"/>
          <p:cNvSpPr/>
          <p:nvPr/>
        </p:nvSpPr>
        <p:spPr>
          <a:xfrm>
            <a:off x="8127797" y="4983480"/>
            <a:ext cx="3515258" cy="1188720"/>
          </a:xfrm>
          <a:prstGeom prst="roundRect">
            <a:avLst>
              <a:gd name="adj" fmla="val 10769"/>
            </a:avLst>
          </a:prstGeom>
          <a:solidFill>
            <a:schemeClr val="bg1"/>
          </a:solidFill>
          <a:ln/>
          <a:effectLst>
            <a:outerShdw sx="100000" sy="100000" kx="0" ky="0" algn="bl" rotWithShape="0" blurRad="127000" dist="25400" dir="5400000">
              <a:srgbClr val="1E1B18">
                <a:alpha val="10000"/>
              </a:srgbClr>
            </a:outerShdw>
          </a:effectLst>
        </p:spPr>
      </p:sp>
      <p:sp>
        <p:nvSpPr>
          <p:cNvPr id="36" name="icon-bg-115"/>
          <p:cNvSpPr/>
          <p:nvPr/>
        </p:nvSpPr>
        <p:spPr>
          <a:xfrm>
            <a:off x="8383829" y="5276088"/>
            <a:ext cx="603504" cy="603504"/>
          </a:xfrm>
          <a:prstGeom prst="ellipse">
            <a:avLst/>
          </a:prstGeom>
          <a:solidFill>
            <a:schemeClr val="accent1"/>
          </a:solidFill>
          <a:ln/>
        </p:spPr>
      </p:sp>
      <p:pic>
        <p:nvPicPr>
          <p:cNvPr id="37" name="icon-116" descr="Bell icon">    </p:cNvPr>
          <p:cNvPicPr>
            <a:picLocks noChangeAspect="1"/>
          </p:cNvPicPr>
          <p:nvPr/>
        </p:nvPicPr>
        <p:blipFill>
          <a:blip r:embed="rId8"/>
          <a:stretch>
            <a:fillRect/>
          </a:stretch>
        </p:blipFill>
        <p:spPr>
          <a:xfrm>
            <a:off x="8528670" y="5420929"/>
            <a:ext cx="313822" cy="313822"/>
          </a:xfrm>
          <a:prstGeom prst="rect">
            <a:avLst/>
          </a:prstGeom>
        </p:spPr>
      </p:pic>
      <p:sp>
        <p:nvSpPr>
          <p:cNvPr id="38" name="text-117"/>
          <p:cNvSpPr txBox="1"/>
          <p:nvPr/>
        </p:nvSpPr>
        <p:spPr>
          <a:xfrm>
            <a:off x="9179357" y="4983480"/>
            <a:ext cx="2235098" cy="1188720"/>
          </a:xfrm>
          <a:prstGeom prst="rect">
            <a:avLst/>
          </a:prstGeom>
          <a:noFill/>
          <a:ln/>
        </p:spPr>
        <p:txBody>
          <a:bodyPr wrap="square" lIns="0" tIns="0" rIns="0" bIns="0" rtlCol="0" anchor="ctr"/>
          <a:lstStyle/>
          <a:p>
            <a:pPr indent="0" marL="0">
              <a:buNone/>
            </a:pPr>
            <a:r>
              <a:rPr lang="en-US" sz="2200" dirty="0">
                <a:solidFill>
                  <a:schemeClr val="tx1"/>
                </a:solidFill>
              </a:rPr>
              <a:t>Proactive nudges</a:t>
            </a:r>
            <a:endParaRPr lang="en-US" sz="22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How it works: the agent loop</a:t>
            </a:r>
            <a:endParaRPr lang="en-US" sz="3800" dirty="0"/>
          </a:p>
        </p:txBody>
      </p:sp>
      <p:sp>
        <p:nvSpPr>
          <p:cNvPr id="3" name="text-118"/>
          <p:cNvSpPr txBox="1"/>
          <p:nvPr/>
        </p:nvSpPr>
        <p:spPr>
          <a:xfrm>
            <a:off x="548640" y="1298448"/>
            <a:ext cx="6400800" cy="320040"/>
          </a:xfrm>
          <a:prstGeom prst="rect">
            <a:avLst/>
          </a:prstGeom>
          <a:noFill/>
          <a:ln/>
        </p:spPr>
        <p:txBody>
          <a:bodyPr wrap="square" lIns="0" tIns="0" rIns="0" bIns="0" rtlCol="0" anchor="t"/>
          <a:lstStyle/>
          <a:p>
            <a:pPr indent="0" marL="0">
              <a:buNone/>
            </a:pPr>
            <a:r>
              <a:rPr lang="en-US" sz="1400" b="1" spc="200" kern="0" dirty="0">
                <a:solidFill>
                  <a:schemeClr val="tx2"/>
                </a:solidFill>
              </a:rPr>
              <a:t>READINESS TRACKER, FOR EACH PRODUCT</a:t>
            </a:r>
            <a:endParaRPr lang="en-US" sz="1400" dirty="0"/>
          </a:p>
        </p:txBody>
      </p:sp>
      <p:sp>
        <p:nvSpPr>
          <p:cNvPr id="4" name="line-119"/>
          <p:cNvSpPr/>
          <p:nvPr/>
        </p:nvSpPr>
        <p:spPr>
          <a:xfrm>
            <a:off x="1463040" y="2057400"/>
            <a:ext cx="9265615" cy="0"/>
          </a:xfrm>
          <a:prstGeom prst="line">
            <a:avLst/>
          </a:prstGeom>
          <a:noFill/>
          <a:ln w="38100">
            <a:solidFill>
              <a:schemeClr val="accent5"/>
            </a:solidFill>
            <a:prstDash val="solid"/>
          </a:ln>
        </p:spPr>
      </p:sp>
      <p:sp>
        <p:nvSpPr>
          <p:cNvPr id="5" name="line-120"/>
          <p:cNvSpPr/>
          <p:nvPr/>
        </p:nvSpPr>
        <p:spPr>
          <a:xfrm>
            <a:off x="1463040" y="2057400"/>
            <a:ext cx="4632808" cy="0"/>
          </a:xfrm>
          <a:prstGeom prst="line">
            <a:avLst/>
          </a:prstGeom>
          <a:noFill/>
          <a:ln w="38100">
            <a:solidFill>
              <a:schemeClr val="accent1"/>
            </a:solidFill>
            <a:prstDash val="solid"/>
          </a:ln>
        </p:spPr>
      </p:sp>
      <p:sp>
        <p:nvSpPr>
          <p:cNvPr id="6" name="node-121"/>
          <p:cNvSpPr/>
          <p:nvPr/>
        </p:nvSpPr>
        <p:spPr>
          <a:xfrm>
            <a:off x="1143000" y="1737360"/>
            <a:ext cx="640080" cy="640080"/>
          </a:xfrm>
          <a:prstGeom prst="ellipse">
            <a:avLst/>
          </a:prstGeom>
          <a:solidFill>
            <a:schemeClr val="accent1"/>
          </a:solidFill>
          <a:ln/>
        </p:spPr>
      </p:sp>
      <p:pic>
        <p:nvPicPr>
          <p:cNvPr id="7" name="check-122" descr="done">    </p:cNvPr>
          <p:cNvPicPr>
            <a:picLocks noChangeAspect="1"/>
          </p:cNvPicPr>
          <p:nvPr/>
        </p:nvPicPr>
        <p:blipFill>
          <a:blip r:embed="rId1"/>
          <a:stretch>
            <a:fillRect/>
          </a:stretch>
        </p:blipFill>
        <p:spPr>
          <a:xfrm>
            <a:off x="1280160" y="1874520"/>
            <a:ext cx="365760" cy="365760"/>
          </a:xfrm>
          <a:prstGeom prst="rect">
            <a:avLst/>
          </a:prstGeom>
        </p:spPr>
      </p:pic>
      <p:sp>
        <p:nvSpPr>
          <p:cNvPr id="8" name="text-123"/>
          <p:cNvSpPr txBox="1"/>
          <p:nvPr/>
        </p:nvSpPr>
        <p:spPr>
          <a:xfrm>
            <a:off x="365760" y="2496312"/>
            <a:ext cx="2194560" cy="731520"/>
          </a:xfrm>
          <a:prstGeom prst="rect">
            <a:avLst/>
          </a:prstGeom>
          <a:noFill/>
          <a:ln/>
        </p:spPr>
        <p:txBody>
          <a:bodyPr wrap="square" lIns="0" tIns="0" rIns="0" bIns="0" rtlCol="0" anchor="t"/>
          <a:lstStyle/>
          <a:p>
            <a:pPr algn="ctr" indent="0" marL="0">
              <a:buNone/>
            </a:pPr>
            <a:r>
              <a:rPr lang="en-US" sz="2000" b="1" dirty="0">
                <a:solidFill>
                  <a:schemeClr val="tx1"/>
                </a:solidFill>
              </a:rPr>
              <a:t>Recipe</a:t>
            </a:r>
            <a:endParaRPr lang="en-US" sz="2000" dirty="0"/>
          </a:p>
          <a:p>
            <a:pPr algn="ctr" indent="0" marL="0">
              <a:buNone/>
            </a:pPr>
            <a:r>
              <a:rPr lang="en-US" sz="1600" dirty="0">
                <a:solidFill>
                  <a:schemeClr val="tx2"/>
                </a:solidFill>
              </a:rPr>
              <a:t>done</a:t>
            </a:r>
            <a:endParaRPr lang="en-US" sz="2000" dirty="0"/>
          </a:p>
        </p:txBody>
      </p:sp>
      <p:sp>
        <p:nvSpPr>
          <p:cNvPr id="9" name="node-124"/>
          <p:cNvSpPr/>
          <p:nvPr/>
        </p:nvSpPr>
        <p:spPr>
          <a:xfrm>
            <a:off x="3459404" y="1737360"/>
            <a:ext cx="640080" cy="640080"/>
          </a:xfrm>
          <a:prstGeom prst="ellipse">
            <a:avLst/>
          </a:prstGeom>
          <a:solidFill>
            <a:schemeClr val="accent1"/>
          </a:solidFill>
          <a:ln/>
        </p:spPr>
      </p:sp>
      <p:pic>
        <p:nvPicPr>
          <p:cNvPr id="10" name="check-125" descr="done">    </p:cNvPr>
          <p:cNvPicPr>
            <a:picLocks noChangeAspect="1"/>
          </p:cNvPicPr>
          <p:nvPr/>
        </p:nvPicPr>
        <p:blipFill>
          <a:blip r:embed="rId2"/>
          <a:stretch>
            <a:fillRect/>
          </a:stretch>
        </p:blipFill>
        <p:spPr>
          <a:xfrm>
            <a:off x="3596564" y="1874520"/>
            <a:ext cx="365760" cy="365760"/>
          </a:xfrm>
          <a:prstGeom prst="rect">
            <a:avLst/>
          </a:prstGeom>
        </p:spPr>
      </p:pic>
      <p:sp>
        <p:nvSpPr>
          <p:cNvPr id="11" name="text-126"/>
          <p:cNvSpPr txBox="1"/>
          <p:nvPr/>
        </p:nvSpPr>
        <p:spPr>
          <a:xfrm>
            <a:off x="2682164" y="2496312"/>
            <a:ext cx="2194560" cy="731520"/>
          </a:xfrm>
          <a:prstGeom prst="rect">
            <a:avLst/>
          </a:prstGeom>
          <a:noFill/>
          <a:ln/>
        </p:spPr>
        <p:txBody>
          <a:bodyPr wrap="square" lIns="0" tIns="0" rIns="0" bIns="0" rtlCol="0" anchor="t"/>
          <a:lstStyle/>
          <a:p>
            <a:pPr algn="ctr" indent="0" marL="0">
              <a:buNone/>
            </a:pPr>
            <a:r>
              <a:rPr lang="en-US" sz="2000" b="1" dirty="0">
                <a:solidFill>
                  <a:schemeClr val="tx1"/>
                </a:solidFill>
              </a:rPr>
              <a:t>Costing</a:t>
            </a:r>
            <a:endParaRPr lang="en-US" sz="2000" dirty="0"/>
          </a:p>
          <a:p>
            <a:pPr algn="ctr" indent="0" marL="0">
              <a:buNone/>
            </a:pPr>
            <a:r>
              <a:rPr lang="en-US" sz="1600" dirty="0">
                <a:solidFill>
                  <a:schemeClr val="tx2"/>
                </a:solidFill>
              </a:rPr>
              <a:t>done</a:t>
            </a:r>
            <a:endParaRPr lang="en-US" sz="2000" dirty="0"/>
          </a:p>
        </p:txBody>
      </p:sp>
      <p:sp>
        <p:nvSpPr>
          <p:cNvPr id="12" name="node-127"/>
          <p:cNvSpPr/>
          <p:nvPr/>
        </p:nvSpPr>
        <p:spPr>
          <a:xfrm>
            <a:off x="5775808" y="1737360"/>
            <a:ext cx="640080" cy="640080"/>
          </a:xfrm>
          <a:prstGeom prst="ellipse">
            <a:avLst/>
          </a:prstGeom>
          <a:solidFill>
            <a:schemeClr val="bg1"/>
          </a:solidFill>
          <a:ln w="50800">
            <a:solidFill>
              <a:schemeClr val="accent2"/>
            </a:solidFill>
            <a:prstDash val="solid"/>
          </a:ln>
        </p:spPr>
      </p:sp>
      <p:sp>
        <p:nvSpPr>
          <p:cNvPr id="13" name="node-dot-128"/>
          <p:cNvSpPr/>
          <p:nvPr/>
        </p:nvSpPr>
        <p:spPr>
          <a:xfrm>
            <a:off x="5940400" y="1901952"/>
            <a:ext cx="310896" cy="310896"/>
          </a:xfrm>
          <a:prstGeom prst="ellipse">
            <a:avLst/>
          </a:prstGeom>
          <a:solidFill>
            <a:schemeClr val="accent2"/>
          </a:solidFill>
          <a:ln/>
        </p:spPr>
      </p:sp>
      <p:sp>
        <p:nvSpPr>
          <p:cNvPr id="14" name="text-129"/>
          <p:cNvSpPr txBox="1"/>
          <p:nvPr/>
        </p:nvSpPr>
        <p:spPr>
          <a:xfrm>
            <a:off x="4998568" y="2496312"/>
            <a:ext cx="2194560" cy="731520"/>
          </a:xfrm>
          <a:prstGeom prst="rect">
            <a:avLst/>
          </a:prstGeom>
          <a:noFill/>
          <a:ln/>
        </p:spPr>
        <p:txBody>
          <a:bodyPr wrap="square" lIns="0" tIns="0" rIns="0" bIns="0" rtlCol="0" anchor="t"/>
          <a:lstStyle/>
          <a:p>
            <a:pPr algn="ctr" indent="0" marL="0">
              <a:buNone/>
            </a:pPr>
            <a:r>
              <a:rPr lang="en-US" sz="2000" b="1" dirty="0">
                <a:solidFill>
                  <a:schemeClr val="tx1"/>
                </a:solidFill>
              </a:rPr>
              <a:t>Label</a:t>
            </a:r>
            <a:endParaRPr lang="en-US" sz="2000" dirty="0"/>
          </a:p>
          <a:p>
            <a:pPr algn="ctr" indent="0" marL="0">
              <a:buNone/>
            </a:pPr>
            <a:r>
              <a:rPr lang="en-US" sz="1600" b="1" dirty="0">
                <a:solidFill>
                  <a:schemeClr val="accent1"/>
                </a:solidFill>
              </a:rPr>
              <a:t>next step</a:t>
            </a:r>
            <a:endParaRPr lang="en-US" sz="2000" dirty="0"/>
          </a:p>
        </p:txBody>
      </p:sp>
      <p:sp>
        <p:nvSpPr>
          <p:cNvPr id="15" name="node-130"/>
          <p:cNvSpPr/>
          <p:nvPr/>
        </p:nvSpPr>
        <p:spPr>
          <a:xfrm>
            <a:off x="8092211" y="1737360"/>
            <a:ext cx="640080" cy="640080"/>
          </a:xfrm>
          <a:prstGeom prst="ellipse">
            <a:avLst/>
          </a:prstGeom>
          <a:solidFill>
            <a:schemeClr val="bg1"/>
          </a:solidFill>
          <a:ln w="38100">
            <a:solidFill>
              <a:schemeClr val="accent5"/>
            </a:solidFill>
            <a:prstDash val="solid"/>
          </a:ln>
        </p:spPr>
      </p:sp>
      <p:sp>
        <p:nvSpPr>
          <p:cNvPr id="16" name="text-131"/>
          <p:cNvSpPr txBox="1"/>
          <p:nvPr/>
        </p:nvSpPr>
        <p:spPr>
          <a:xfrm>
            <a:off x="7314971" y="2496312"/>
            <a:ext cx="2194560" cy="731520"/>
          </a:xfrm>
          <a:prstGeom prst="rect">
            <a:avLst/>
          </a:prstGeom>
          <a:noFill/>
          <a:ln/>
        </p:spPr>
        <p:txBody>
          <a:bodyPr wrap="square" lIns="0" tIns="0" rIns="0" bIns="0" rtlCol="0" anchor="t"/>
          <a:lstStyle/>
          <a:p>
            <a:pPr algn="ctr" indent="0" marL="0">
              <a:buNone/>
            </a:pPr>
            <a:r>
              <a:rPr lang="en-US" sz="2000" b="1" dirty="0">
                <a:solidFill>
                  <a:schemeClr val="tx1"/>
                </a:solidFill>
              </a:rPr>
              <a:t>Registration</a:t>
            </a:r>
            <a:endParaRPr lang="en-US" sz="2000" dirty="0"/>
          </a:p>
          <a:p>
            <a:pPr algn="ctr" indent="0" marL="0">
              <a:buNone/>
            </a:pPr>
            <a:r>
              <a:rPr lang="en-US" sz="1600" dirty="0">
                <a:solidFill>
                  <a:schemeClr val="tx2"/>
                </a:solidFill>
              </a:rPr>
              <a:t>missing</a:t>
            </a:r>
            <a:endParaRPr lang="en-US" sz="2000" dirty="0"/>
          </a:p>
        </p:txBody>
      </p:sp>
      <p:sp>
        <p:nvSpPr>
          <p:cNvPr id="17" name="node-132"/>
          <p:cNvSpPr/>
          <p:nvPr/>
        </p:nvSpPr>
        <p:spPr>
          <a:xfrm>
            <a:off x="10408615" y="1737360"/>
            <a:ext cx="640080" cy="640080"/>
          </a:xfrm>
          <a:prstGeom prst="ellipse">
            <a:avLst/>
          </a:prstGeom>
          <a:solidFill>
            <a:schemeClr val="bg1"/>
          </a:solidFill>
          <a:ln w="38100">
            <a:solidFill>
              <a:schemeClr val="accent5"/>
            </a:solidFill>
            <a:prstDash val="solid"/>
          </a:ln>
        </p:spPr>
      </p:sp>
      <p:sp>
        <p:nvSpPr>
          <p:cNvPr id="18" name="text-133"/>
          <p:cNvSpPr txBox="1"/>
          <p:nvPr/>
        </p:nvSpPr>
        <p:spPr>
          <a:xfrm>
            <a:off x="9631375" y="2496312"/>
            <a:ext cx="2194560" cy="731520"/>
          </a:xfrm>
          <a:prstGeom prst="rect">
            <a:avLst/>
          </a:prstGeom>
          <a:noFill/>
          <a:ln/>
        </p:spPr>
        <p:txBody>
          <a:bodyPr wrap="square" lIns="0" tIns="0" rIns="0" bIns="0" rtlCol="0" anchor="t"/>
          <a:lstStyle/>
          <a:p>
            <a:pPr algn="ctr" indent="0" marL="0">
              <a:buNone/>
            </a:pPr>
            <a:r>
              <a:rPr lang="en-US" sz="2000" b="1" dirty="0">
                <a:solidFill>
                  <a:schemeClr val="tx1"/>
                </a:solidFill>
              </a:rPr>
              <a:t>Listing</a:t>
            </a:r>
            <a:endParaRPr lang="en-US" sz="2000" dirty="0"/>
          </a:p>
          <a:p>
            <a:pPr algn="ctr" indent="0" marL="0">
              <a:buNone/>
            </a:pPr>
            <a:r>
              <a:rPr lang="en-US" sz="1600" dirty="0">
                <a:solidFill>
                  <a:schemeClr val="tx2"/>
                </a:solidFill>
              </a:rPr>
              <a:t>missing</a:t>
            </a:r>
            <a:endParaRPr lang="en-US" sz="2000" dirty="0"/>
          </a:p>
        </p:txBody>
      </p:sp>
      <p:sp>
        <p:nvSpPr>
          <p:cNvPr id="19" name="text-134"/>
          <p:cNvSpPr txBox="1"/>
          <p:nvPr/>
        </p:nvSpPr>
        <p:spPr>
          <a:xfrm>
            <a:off x="548640" y="3383280"/>
            <a:ext cx="4937760" cy="1051560"/>
          </a:xfrm>
          <a:prstGeom prst="rect">
            <a:avLst/>
          </a:prstGeom>
          <a:noFill/>
          <a:ln/>
        </p:spPr>
        <p:txBody>
          <a:bodyPr wrap="square" lIns="0" tIns="0" rIns="0" bIns="0" rtlCol="0" anchor="t"/>
          <a:lstStyle/>
          <a:p>
            <a:pPr indent="0" marL="0">
              <a:buNone/>
            </a:pPr>
            <a:r>
              <a:rPr lang="en-US" sz="3000" dirty="0">
                <a:solidFill>
                  <a:schemeClr val="tx1"/>
                </a:solidFill>
                <a:latin typeface="+mj-lt" pitchFamily="34" charset="0"/>
                <a:ea typeface="+mj-lt" pitchFamily="34" charset="-122"/>
                <a:cs typeface="+mj-lt" pitchFamily="34" charset="-120"/>
              </a:rPr>
              <a:t>The agent finds the next missing step and asks for it.</a:t>
            </a:r>
            <a:endParaRPr lang="en-US" sz="3000" dirty="0"/>
          </a:p>
        </p:txBody>
      </p:sp>
      <p:sp>
        <p:nvSpPr>
          <p:cNvPr id="20" name="text-135"/>
          <p:cNvSpPr txBox="1"/>
          <p:nvPr/>
        </p:nvSpPr>
        <p:spPr>
          <a:xfrm>
            <a:off x="548640" y="4572000"/>
            <a:ext cx="4754880" cy="777240"/>
          </a:xfrm>
          <a:prstGeom prst="rect">
            <a:avLst/>
          </a:prstGeom>
          <a:noFill/>
          <a:ln/>
        </p:spPr>
        <p:txBody>
          <a:bodyPr wrap="square" lIns="0" tIns="0" rIns="0" bIns="0" rtlCol="0" anchor="t"/>
          <a:lstStyle/>
          <a:p>
            <a:pPr indent="0" marL="0">
              <a:buNone/>
            </a:pPr>
            <a:r>
              <a:rPr lang="en-US" sz="2400" dirty="0">
                <a:solidFill>
                  <a:schemeClr val="tx1"/>
                </a:solidFill>
              </a:rPr>
              <a:t>One short question at a time, in simple spoken Hindi.</a:t>
            </a:r>
            <a:endParaRPr lang="en-US" sz="2400" dirty="0"/>
          </a:p>
        </p:txBody>
      </p:sp>
      <p:sp>
        <p:nvSpPr>
          <p:cNvPr id="21" name="card-136"/>
          <p:cNvSpPr/>
          <p:nvPr/>
        </p:nvSpPr>
        <p:spPr>
          <a:xfrm>
            <a:off x="5806440" y="3127248"/>
            <a:ext cx="5836615" cy="3154680"/>
          </a:xfrm>
          <a:prstGeom prst="roundRect">
            <a:avLst>
              <a:gd name="adj" fmla="val 5217"/>
            </a:avLst>
          </a:prstGeom>
          <a:solidFill>
            <a:schemeClr val="accent3"/>
          </a:solidFill>
          <a:ln/>
        </p:spPr>
      </p:sp>
      <p:sp>
        <p:nvSpPr>
          <p:cNvPr id="22" name="card-137"/>
          <p:cNvSpPr/>
          <p:nvPr/>
        </p:nvSpPr>
        <p:spPr>
          <a:xfrm>
            <a:off x="6035040" y="3310128"/>
            <a:ext cx="5379415" cy="777240"/>
          </a:xfrm>
          <a:prstGeom prst="roundRect">
            <a:avLst>
              <a:gd name="adj" fmla="val 14118"/>
            </a:avLst>
          </a:prstGeom>
          <a:solidFill>
            <a:schemeClr val="bg1"/>
          </a:solidFill>
          <a:ln/>
        </p:spPr>
      </p:sp>
      <p:pic>
        <p:nvPicPr>
          <p:cNvPr id="23" name="mic-138" descr="voice note">    </p:cNvPr>
          <p:cNvPicPr>
            <a:picLocks noChangeAspect="1"/>
          </p:cNvPicPr>
          <p:nvPr/>
        </p:nvPicPr>
        <p:blipFill>
          <a:blip r:embed="rId3"/>
          <a:stretch>
            <a:fillRect/>
          </a:stretch>
        </p:blipFill>
        <p:spPr>
          <a:xfrm>
            <a:off x="6217920" y="3529584"/>
            <a:ext cx="329184" cy="329184"/>
          </a:xfrm>
          <a:prstGeom prst="rect">
            <a:avLst/>
          </a:prstGeom>
        </p:spPr>
      </p:pic>
      <p:sp>
        <p:nvSpPr>
          <p:cNvPr id="24" name="text-139"/>
          <p:cNvSpPr txBox="1"/>
          <p:nvPr/>
        </p:nvSpPr>
        <p:spPr>
          <a:xfrm>
            <a:off x="6675120" y="3310128"/>
            <a:ext cx="4602175" cy="777240"/>
          </a:xfrm>
          <a:prstGeom prst="rect">
            <a:avLst/>
          </a:prstGeom>
          <a:noFill/>
          <a:ln/>
        </p:spPr>
        <p:txBody>
          <a:bodyPr wrap="square" lIns="0" tIns="0" rIns="0" bIns="0" rtlCol="0" anchor="ctr"/>
          <a:lstStyle/>
          <a:p>
            <a:pPr indent="0" marL="0">
              <a:buNone/>
            </a:pPr>
            <a:r>
              <a:rPr lang="en-US" sz="2000" i="1" dirty="0">
                <a:solidFill>
                  <a:schemeClr val="tx1"/>
                </a:solidFill>
              </a:rPr>
              <a:t>“5 kilo aam, 1 kilo namak, 2 katori mirchi”</a:t>
            </a:r>
            <a:endParaRPr lang="en-US" sz="2000" dirty="0"/>
          </a:p>
        </p:txBody>
      </p:sp>
      <p:sp>
        <p:nvSpPr>
          <p:cNvPr id="25" name="card-140"/>
          <p:cNvSpPr/>
          <p:nvPr/>
        </p:nvSpPr>
        <p:spPr>
          <a:xfrm>
            <a:off x="6035040" y="4224528"/>
            <a:ext cx="4754880" cy="685800"/>
          </a:xfrm>
          <a:prstGeom prst="roundRect">
            <a:avLst>
              <a:gd name="adj" fmla="val 16000"/>
            </a:avLst>
          </a:prstGeom>
          <a:solidFill>
            <a:schemeClr val="bg2"/>
          </a:solidFill>
          <a:ln/>
        </p:spPr>
      </p:sp>
      <p:sp>
        <p:nvSpPr>
          <p:cNvPr id="26" name="text-141"/>
          <p:cNvSpPr txBox="1"/>
          <p:nvPr/>
        </p:nvSpPr>
        <p:spPr>
          <a:xfrm>
            <a:off x="6217920" y="4224528"/>
            <a:ext cx="4480560" cy="685800"/>
          </a:xfrm>
          <a:prstGeom prst="rect">
            <a:avLst/>
          </a:prstGeom>
          <a:noFill/>
          <a:ln/>
        </p:spPr>
        <p:txBody>
          <a:bodyPr wrap="square" lIns="0" tIns="0" rIns="0" bIns="0" rtlCol="0" anchor="ctr"/>
          <a:lstStyle/>
          <a:p>
            <a:pPr indent="0" marL="0">
              <a:buNone/>
            </a:pPr>
            <a:r>
              <a:rPr lang="en-US" sz="2000" dirty="0">
                <a:solidFill>
                  <a:schemeClr val="tx1"/>
                </a:solidFill>
              </a:rPr>
              <a:t>2 katori mirchi lagbhag 200 gram hai. Sahi hai?</a:t>
            </a:r>
            <a:endParaRPr lang="en-US" sz="2000" dirty="0"/>
          </a:p>
        </p:txBody>
      </p:sp>
      <p:sp>
        <p:nvSpPr>
          <p:cNvPr id="27" name="card-142"/>
          <p:cNvSpPr/>
          <p:nvPr/>
        </p:nvSpPr>
        <p:spPr>
          <a:xfrm>
            <a:off x="6035040" y="5047488"/>
            <a:ext cx="5379415" cy="1051560"/>
          </a:xfrm>
          <a:prstGeom prst="roundRect">
            <a:avLst>
              <a:gd name="adj" fmla="val 10435"/>
            </a:avLst>
          </a:prstGeom>
          <a:solidFill>
            <a:schemeClr val="bg2"/>
          </a:solidFill>
          <a:ln/>
        </p:spPr>
      </p:sp>
      <p:sp>
        <p:nvSpPr>
          <p:cNvPr id="28" name="text-143"/>
          <p:cNvSpPr txBox="1"/>
          <p:nvPr/>
        </p:nvSpPr>
        <p:spPr>
          <a:xfrm>
            <a:off x="6217920" y="5047488"/>
            <a:ext cx="5013655" cy="1051560"/>
          </a:xfrm>
          <a:prstGeom prst="rect">
            <a:avLst/>
          </a:prstGeom>
          <a:noFill/>
          <a:ln/>
        </p:spPr>
        <p:txBody>
          <a:bodyPr wrap="square" lIns="0" tIns="0" rIns="0" bIns="0" rtlCol="0" anchor="ctr"/>
          <a:lstStyle/>
          <a:p>
            <a:pPr indent="0" marL="0">
              <a:buNone/>
            </a:pPr>
            <a:r>
              <a:rPr lang="en-US" sz="2000" dirty="0">
                <a:solidFill>
                  <a:schemeClr val="tx1"/>
                </a:solidFill>
              </a:rPr>
              <a:t>Aapka daam ₹120 hai, lekin ek jar ki lagat ₹134 aa rahi hai. Kam se kam ₹149 rakhein?</a:t>
            </a:r>
            <a:endParaRPr lang="en-US" sz="2000" dirty="0"/>
          </a:p>
        </p:txBody>
      </p:sp>
      <p:sp>
        <p:nvSpPr>
          <p:cNvPr id="29" name="text-144"/>
          <p:cNvSpPr txBox="1"/>
          <p:nvPr/>
        </p:nvSpPr>
        <p:spPr>
          <a:xfrm>
            <a:off x="548640" y="5760720"/>
            <a:ext cx="4572000" cy="320040"/>
          </a:xfrm>
          <a:prstGeom prst="rect">
            <a:avLst/>
          </a:prstGeom>
          <a:noFill/>
          <a:ln/>
        </p:spPr>
        <p:txBody>
          <a:bodyPr wrap="square" lIns="0" tIns="0" rIns="0" bIns="0" rtlCol="0" anchor="t"/>
          <a:lstStyle/>
          <a:p>
            <a:pPr indent="0" marL="0">
              <a:buNone/>
            </a:pPr>
            <a:r>
              <a:rPr lang="en-US" sz="1400" dirty="0">
                <a:solidFill>
                  <a:schemeClr val="tx2"/>
                </a:solidFill>
              </a:rPr>
              <a:t>Chat numbers are illustrative.</a:t>
            </a:r>
            <a:endParaRPr lang="en-US" sz="14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Built to be trusted</a:t>
            </a:r>
            <a:endParaRPr lang="en-US" sz="3800" dirty="0"/>
          </a:p>
        </p:txBody>
      </p:sp>
      <p:sp>
        <p:nvSpPr>
          <p:cNvPr id="3" name="card-145"/>
          <p:cNvSpPr/>
          <p:nvPr/>
        </p:nvSpPr>
        <p:spPr>
          <a:xfrm>
            <a:off x="548640" y="1325880"/>
            <a:ext cx="5074920" cy="530352"/>
          </a:xfrm>
          <a:prstGeom prst="roundRect">
            <a:avLst>
              <a:gd name="adj" fmla="val 24138"/>
            </a:avLst>
          </a:prstGeom>
          <a:solidFill>
            <a:schemeClr val="bg1"/>
          </a:solidFill>
          <a:ln/>
          <a:effectLst>
            <a:outerShdw sx="100000" sy="100000" kx="0" ky="0" algn="bl" rotWithShape="0" blurRad="127000" dist="25400" dir="5400000">
              <a:srgbClr val="1E1B18">
                <a:alpha val="10000"/>
              </a:srgbClr>
            </a:outerShdw>
          </a:effectLst>
        </p:spPr>
      </p:sp>
      <p:sp>
        <p:nvSpPr>
          <p:cNvPr id="4" name="text-146"/>
          <p:cNvSpPr txBox="1"/>
          <p:nvPr/>
        </p:nvSpPr>
        <p:spPr>
          <a:xfrm>
            <a:off x="822960" y="1325880"/>
            <a:ext cx="4526280" cy="530352"/>
          </a:xfrm>
          <a:prstGeom prst="rect">
            <a:avLst/>
          </a:prstGeom>
          <a:noFill/>
          <a:ln/>
        </p:spPr>
        <p:txBody>
          <a:bodyPr wrap="square" lIns="0" tIns="0" rIns="0" bIns="0" rtlCol="0" anchor="ctr"/>
          <a:lstStyle/>
          <a:p>
            <a:pPr algn="ctr" indent="0" marL="0">
              <a:buNone/>
            </a:pPr>
            <a:r>
              <a:rPr lang="en-US" sz="1800" b="1" dirty="0">
                <a:solidFill>
                  <a:schemeClr val="tx1"/>
                </a:solidFill>
              </a:rPr>
              <a:t>WhatsApp or web chat</a:t>
            </a:r>
            <a:endParaRPr lang="en-US" sz="1800" dirty="0"/>
          </a:p>
        </p:txBody>
      </p:sp>
      <p:sp>
        <p:nvSpPr>
          <p:cNvPr id="5" name="arrow-147"/>
          <p:cNvSpPr/>
          <p:nvPr/>
        </p:nvSpPr>
        <p:spPr>
          <a:xfrm>
            <a:off x="3086100" y="1874520"/>
            <a:ext cx="0" cy="201168"/>
          </a:xfrm>
          <a:prstGeom prst="line">
            <a:avLst/>
          </a:prstGeom>
          <a:noFill/>
          <a:ln w="31750">
            <a:solidFill>
              <a:schemeClr val="accent1"/>
            </a:solidFill>
            <a:prstDash val="solid"/>
            <a:tailEnd type="triangle"/>
          </a:ln>
        </p:spPr>
      </p:sp>
      <p:sp>
        <p:nvSpPr>
          <p:cNvPr id="6" name="card-148"/>
          <p:cNvSpPr/>
          <p:nvPr/>
        </p:nvSpPr>
        <p:spPr>
          <a:xfrm>
            <a:off x="548640" y="2093976"/>
            <a:ext cx="5074920" cy="731520"/>
          </a:xfrm>
          <a:prstGeom prst="roundRect">
            <a:avLst>
              <a:gd name="adj" fmla="val 17500"/>
            </a:avLst>
          </a:prstGeom>
          <a:solidFill>
            <a:schemeClr val="accent1"/>
          </a:solidFill>
          <a:ln/>
        </p:spPr>
      </p:sp>
      <p:sp>
        <p:nvSpPr>
          <p:cNvPr id="7" name="text-149"/>
          <p:cNvSpPr txBox="1"/>
          <p:nvPr/>
        </p:nvSpPr>
        <p:spPr>
          <a:xfrm>
            <a:off x="822960" y="2093976"/>
            <a:ext cx="4526280" cy="731520"/>
          </a:xfrm>
          <a:prstGeom prst="rect">
            <a:avLst/>
          </a:prstGeom>
          <a:noFill/>
          <a:ln/>
        </p:spPr>
        <p:txBody>
          <a:bodyPr wrap="square" lIns="0" tIns="0" rIns="0" bIns="0" rtlCol="0" anchor="ctr"/>
          <a:lstStyle/>
          <a:p>
            <a:pPr algn="ctr" indent="0" marL="0">
              <a:buNone/>
            </a:pPr>
            <a:r>
              <a:rPr lang="en-US" sz="1800" b="1" dirty="0">
                <a:solidFill>
                  <a:schemeClr val="bg2"/>
                </a:solidFill>
              </a:rPr>
              <a:t>Agent</a:t>
            </a:r>
            <a:endParaRPr lang="en-US" sz="1800" dirty="0"/>
          </a:p>
          <a:p>
            <a:pPr algn="ctr" indent="0" marL="0">
              <a:buNone/>
            </a:pPr>
            <a:r>
              <a:rPr lang="en-US" sz="1600" dirty="0">
                <a:solidFill>
                  <a:schemeClr val="bg2"/>
                </a:solidFill>
              </a:rPr>
              <a:t>LLM understands her and asks questions</a:t>
            </a:r>
            <a:endParaRPr lang="en-US" sz="1800" dirty="0"/>
          </a:p>
        </p:txBody>
      </p:sp>
      <p:sp>
        <p:nvSpPr>
          <p:cNvPr id="8" name="arrow-150"/>
          <p:cNvSpPr/>
          <p:nvPr/>
        </p:nvSpPr>
        <p:spPr>
          <a:xfrm>
            <a:off x="1817370" y="2843784"/>
            <a:ext cx="0" cy="201168"/>
          </a:xfrm>
          <a:prstGeom prst="line">
            <a:avLst/>
          </a:prstGeom>
          <a:noFill/>
          <a:ln w="31750">
            <a:solidFill>
              <a:schemeClr val="accent1"/>
            </a:solidFill>
            <a:prstDash val="solid"/>
            <a:tailEnd type="triangle"/>
          </a:ln>
        </p:spPr>
      </p:sp>
      <p:sp>
        <p:nvSpPr>
          <p:cNvPr id="9" name="arrow-151"/>
          <p:cNvSpPr/>
          <p:nvPr/>
        </p:nvSpPr>
        <p:spPr>
          <a:xfrm>
            <a:off x="4354830" y="2843784"/>
            <a:ext cx="0" cy="201168"/>
          </a:xfrm>
          <a:prstGeom prst="line">
            <a:avLst/>
          </a:prstGeom>
          <a:noFill/>
          <a:ln w="31750">
            <a:solidFill>
              <a:schemeClr val="accent1"/>
            </a:solidFill>
            <a:prstDash val="solid"/>
            <a:tailEnd type="triangle"/>
          </a:ln>
        </p:spPr>
      </p:sp>
      <p:sp>
        <p:nvSpPr>
          <p:cNvPr id="10" name="card-152"/>
          <p:cNvSpPr/>
          <p:nvPr/>
        </p:nvSpPr>
        <p:spPr>
          <a:xfrm>
            <a:off x="548640" y="3063240"/>
            <a:ext cx="2423160" cy="1188720"/>
          </a:xfrm>
          <a:prstGeom prst="roundRect">
            <a:avLst>
              <a:gd name="adj" fmla="val 10769"/>
            </a:avLst>
          </a:prstGeom>
          <a:solidFill>
            <a:schemeClr val="accent3"/>
          </a:solidFill>
          <a:ln/>
        </p:spPr>
      </p:sp>
      <p:sp>
        <p:nvSpPr>
          <p:cNvPr id="11" name="text-153"/>
          <p:cNvSpPr txBox="1"/>
          <p:nvPr/>
        </p:nvSpPr>
        <p:spPr>
          <a:xfrm>
            <a:off x="731520" y="3063240"/>
            <a:ext cx="2057400" cy="1188720"/>
          </a:xfrm>
          <a:prstGeom prst="rect">
            <a:avLst/>
          </a:prstGeom>
          <a:noFill/>
          <a:ln/>
        </p:spPr>
        <p:txBody>
          <a:bodyPr wrap="square" lIns="0" tIns="0" rIns="0" bIns="0" rtlCol="0" anchor="ctr"/>
          <a:lstStyle/>
          <a:p>
            <a:pPr algn="ctr" indent="0" marL="0">
              <a:buNone/>
            </a:pPr>
            <a:r>
              <a:rPr lang="en-US" sz="1800" b="1" dirty="0">
                <a:solidFill>
                  <a:schemeClr val="tx1"/>
                </a:solidFill>
              </a:rPr>
              <a:t>Deterministic core</a:t>
            </a:r>
            <a:endParaRPr lang="en-US" sz="1800" dirty="0"/>
          </a:p>
          <a:p>
            <a:pPr algn="ctr" indent="0" marL="0">
              <a:buNone/>
            </a:pPr>
            <a:r>
              <a:rPr lang="en-US" sz="1600" dirty="0">
                <a:solidFill>
                  <a:schemeClr val="tx1"/>
                </a:solidFill>
              </a:rPr>
              <a:t>Costing, units, nutrition (IFCT), batch numbers</a:t>
            </a:r>
            <a:endParaRPr lang="en-US" sz="1800" dirty="0"/>
          </a:p>
        </p:txBody>
      </p:sp>
      <p:sp>
        <p:nvSpPr>
          <p:cNvPr id="12" name="card-154"/>
          <p:cNvSpPr/>
          <p:nvPr/>
        </p:nvSpPr>
        <p:spPr>
          <a:xfrm>
            <a:off x="3200400" y="3063240"/>
            <a:ext cx="2423160" cy="1188720"/>
          </a:xfrm>
          <a:prstGeom prst="roundRect">
            <a:avLst>
              <a:gd name="adj" fmla="val 10769"/>
            </a:avLst>
          </a:prstGeom>
          <a:solidFill>
            <a:schemeClr val="accent3"/>
          </a:solidFill>
          <a:ln/>
        </p:spPr>
      </p:sp>
      <p:sp>
        <p:nvSpPr>
          <p:cNvPr id="13" name="text-155"/>
          <p:cNvSpPr txBox="1"/>
          <p:nvPr/>
        </p:nvSpPr>
        <p:spPr>
          <a:xfrm>
            <a:off x="3383280" y="3063240"/>
            <a:ext cx="2057400" cy="1188720"/>
          </a:xfrm>
          <a:prstGeom prst="rect">
            <a:avLst/>
          </a:prstGeom>
          <a:noFill/>
          <a:ln/>
        </p:spPr>
        <p:txBody>
          <a:bodyPr wrap="square" lIns="0" tIns="0" rIns="0" bIns="0" rtlCol="0" anchor="ctr"/>
          <a:lstStyle/>
          <a:p>
            <a:pPr algn="ctr" indent="0" marL="0">
              <a:buNone/>
            </a:pPr>
            <a:r>
              <a:rPr lang="en-US" sz="1800" b="1" dirty="0">
                <a:solidFill>
                  <a:schemeClr val="tx1"/>
                </a:solidFill>
              </a:rPr>
              <a:t>Rules file</a:t>
            </a:r>
            <a:endParaRPr lang="en-US" sz="1800" dirty="0"/>
          </a:p>
          <a:p>
            <a:pPr algn="ctr" indent="0" marL="0">
              <a:buNone/>
            </a:pPr>
            <a:r>
              <a:rPr lang="en-US" sz="1600" dirty="0">
                <a:solidFill>
                  <a:schemeClr val="tx1"/>
                </a:solidFill>
              </a:rPr>
              <a:t>Every FSSAI rule cited to its regulation</a:t>
            </a:r>
            <a:endParaRPr lang="en-US" sz="1800" dirty="0"/>
          </a:p>
        </p:txBody>
      </p:sp>
      <p:sp>
        <p:nvSpPr>
          <p:cNvPr id="14" name="arrow-156"/>
          <p:cNvSpPr/>
          <p:nvPr/>
        </p:nvSpPr>
        <p:spPr>
          <a:xfrm>
            <a:off x="1817370" y="4270248"/>
            <a:ext cx="0" cy="201168"/>
          </a:xfrm>
          <a:prstGeom prst="line">
            <a:avLst/>
          </a:prstGeom>
          <a:noFill/>
          <a:ln w="31750">
            <a:solidFill>
              <a:schemeClr val="accent1"/>
            </a:solidFill>
            <a:prstDash val="solid"/>
            <a:tailEnd type="triangle"/>
          </a:ln>
        </p:spPr>
      </p:sp>
      <p:sp>
        <p:nvSpPr>
          <p:cNvPr id="15" name="arrow-157"/>
          <p:cNvSpPr/>
          <p:nvPr/>
        </p:nvSpPr>
        <p:spPr>
          <a:xfrm>
            <a:off x="4354830" y="4270248"/>
            <a:ext cx="0" cy="201168"/>
          </a:xfrm>
          <a:prstGeom prst="line">
            <a:avLst/>
          </a:prstGeom>
          <a:noFill/>
          <a:ln w="31750">
            <a:solidFill>
              <a:schemeClr val="accent1"/>
            </a:solidFill>
            <a:prstDash val="solid"/>
            <a:tailEnd type="triangle"/>
          </a:ln>
        </p:spPr>
      </p:sp>
      <p:sp>
        <p:nvSpPr>
          <p:cNvPr id="16" name="card-158"/>
          <p:cNvSpPr/>
          <p:nvPr/>
        </p:nvSpPr>
        <p:spPr>
          <a:xfrm>
            <a:off x="548640" y="4489704"/>
            <a:ext cx="5074920" cy="530352"/>
          </a:xfrm>
          <a:prstGeom prst="roundRect">
            <a:avLst>
              <a:gd name="adj" fmla="val 24138"/>
            </a:avLst>
          </a:prstGeom>
          <a:solidFill>
            <a:schemeClr val="bg1"/>
          </a:solidFill>
          <a:ln/>
          <a:effectLst>
            <a:outerShdw sx="100000" sy="100000" kx="0" ky="0" algn="bl" rotWithShape="0" blurRad="127000" dist="25400" dir="5400000">
              <a:srgbClr val="1E1B18">
                <a:alpha val="10000"/>
              </a:srgbClr>
            </a:outerShdw>
          </a:effectLst>
        </p:spPr>
      </p:sp>
      <p:sp>
        <p:nvSpPr>
          <p:cNvPr id="17" name="text-159"/>
          <p:cNvSpPr txBox="1"/>
          <p:nvPr/>
        </p:nvSpPr>
        <p:spPr>
          <a:xfrm>
            <a:off x="822960" y="4489704"/>
            <a:ext cx="4526280" cy="530352"/>
          </a:xfrm>
          <a:prstGeom prst="rect">
            <a:avLst/>
          </a:prstGeom>
          <a:noFill/>
          <a:ln/>
        </p:spPr>
        <p:txBody>
          <a:bodyPr wrap="square" lIns="0" tIns="0" rIns="0" bIns="0" rtlCol="0" anchor="ctr"/>
          <a:lstStyle/>
          <a:p>
            <a:pPr algn="ctr" indent="0" marL="0">
              <a:buNone/>
            </a:pPr>
            <a:r>
              <a:rPr lang="en-US" sz="1800" b="1" dirty="0">
                <a:solidFill>
                  <a:schemeClr val="tx1"/>
                </a:solidFill>
              </a:rPr>
              <a:t>PDF labels, checklists, listings</a:t>
            </a:r>
            <a:endParaRPr lang="en-US" sz="1800" dirty="0"/>
          </a:p>
        </p:txBody>
      </p:sp>
      <p:sp>
        <p:nvSpPr>
          <p:cNvPr id="18" name="icon-bg-160"/>
          <p:cNvSpPr/>
          <p:nvPr/>
        </p:nvSpPr>
        <p:spPr>
          <a:xfrm>
            <a:off x="6172200" y="1371600"/>
            <a:ext cx="566928" cy="566928"/>
          </a:xfrm>
          <a:prstGeom prst="ellipse">
            <a:avLst/>
          </a:prstGeom>
          <a:solidFill>
            <a:schemeClr val="accent1"/>
          </a:solidFill>
          <a:ln/>
        </p:spPr>
      </p:sp>
      <p:pic>
        <p:nvPicPr>
          <p:cNvPr id="19" name="icon-161" descr="Calculator icon">    </p:cNvPr>
          <p:cNvPicPr>
            <a:picLocks noChangeAspect="1"/>
          </p:cNvPicPr>
          <p:nvPr/>
        </p:nvPicPr>
        <p:blipFill>
          <a:blip r:embed="rId1"/>
          <a:stretch>
            <a:fillRect/>
          </a:stretch>
        </p:blipFill>
        <p:spPr>
          <a:xfrm>
            <a:off x="6308263" y="1507663"/>
            <a:ext cx="294803" cy="294803"/>
          </a:xfrm>
          <a:prstGeom prst="rect">
            <a:avLst/>
          </a:prstGeom>
        </p:spPr>
      </p:pic>
      <p:sp>
        <p:nvSpPr>
          <p:cNvPr id="20" name="text-162"/>
          <p:cNvSpPr txBox="1"/>
          <p:nvPr/>
        </p:nvSpPr>
        <p:spPr>
          <a:xfrm>
            <a:off x="6949440" y="1325880"/>
            <a:ext cx="4693615" cy="1143000"/>
          </a:xfrm>
          <a:prstGeom prst="rect">
            <a:avLst/>
          </a:prstGeom>
          <a:noFill/>
          <a:ln/>
        </p:spPr>
        <p:txBody>
          <a:bodyPr wrap="square" lIns="0" tIns="0" rIns="0" bIns="0" rtlCol="0" anchor="t"/>
          <a:lstStyle/>
          <a:p>
            <a:pPr indent="0" marL="0">
              <a:buNone/>
            </a:pPr>
            <a:r>
              <a:rPr lang="en-US" sz="2000" b="1" dirty="0">
                <a:solidFill>
                  <a:schemeClr val="tx1"/>
                </a:solidFill>
              </a:rPr>
              <a:t>The AI never does the maths.</a:t>
            </a:r>
            <a:endParaRPr lang="en-US" sz="2000" dirty="0"/>
          </a:p>
          <a:p>
            <a:pPr indent="0" marL="0">
              <a:buNone/>
            </a:pPr>
            <a:r>
              <a:rPr lang="en-US" sz="2000" dirty="0">
                <a:solidFill>
                  <a:schemeClr val="tx2"/>
                </a:solidFill>
              </a:rPr>
              <a:t>Every number comes from tested code.</a:t>
            </a:r>
            <a:endParaRPr lang="en-US" sz="2000" dirty="0"/>
          </a:p>
        </p:txBody>
      </p:sp>
      <p:sp>
        <p:nvSpPr>
          <p:cNvPr id="21" name="icon-bg-163"/>
          <p:cNvSpPr/>
          <p:nvPr/>
        </p:nvSpPr>
        <p:spPr>
          <a:xfrm>
            <a:off x="6172200" y="2514600"/>
            <a:ext cx="566928" cy="566928"/>
          </a:xfrm>
          <a:prstGeom prst="ellipse">
            <a:avLst/>
          </a:prstGeom>
          <a:solidFill>
            <a:schemeClr val="accent1"/>
          </a:solidFill>
          <a:ln/>
        </p:spPr>
      </p:sp>
      <p:pic>
        <p:nvPicPr>
          <p:cNvPr id="22" name="icon-164" descr="BookOpen icon">    </p:cNvPr>
          <p:cNvPicPr>
            <a:picLocks noChangeAspect="1"/>
          </p:cNvPicPr>
          <p:nvPr/>
        </p:nvPicPr>
        <p:blipFill>
          <a:blip r:embed="rId2"/>
          <a:stretch>
            <a:fillRect/>
          </a:stretch>
        </p:blipFill>
        <p:spPr>
          <a:xfrm>
            <a:off x="6308263" y="2650663"/>
            <a:ext cx="294803" cy="294803"/>
          </a:xfrm>
          <a:prstGeom prst="rect">
            <a:avLst/>
          </a:prstGeom>
        </p:spPr>
      </p:pic>
      <p:sp>
        <p:nvSpPr>
          <p:cNvPr id="23" name="text-165"/>
          <p:cNvSpPr txBox="1"/>
          <p:nvPr/>
        </p:nvSpPr>
        <p:spPr>
          <a:xfrm>
            <a:off x="6949440" y="2468880"/>
            <a:ext cx="4693615" cy="1143000"/>
          </a:xfrm>
          <a:prstGeom prst="rect">
            <a:avLst/>
          </a:prstGeom>
          <a:noFill/>
          <a:ln/>
        </p:spPr>
        <p:txBody>
          <a:bodyPr wrap="square" lIns="0" tIns="0" rIns="0" bIns="0" rtlCol="0" anchor="t"/>
          <a:lstStyle/>
          <a:p>
            <a:pPr indent="0" marL="0">
              <a:buNone/>
            </a:pPr>
            <a:r>
              <a:rPr lang="en-US" sz="2000" b="1" dirty="0">
                <a:solidFill>
                  <a:schemeClr val="tx1"/>
                </a:solidFill>
              </a:rPr>
              <a:t>The AI never invents a rule.</a:t>
            </a:r>
            <a:endParaRPr lang="en-US" sz="2000" dirty="0"/>
          </a:p>
          <a:p>
            <a:pPr indent="0" marL="0">
              <a:buNone/>
            </a:pPr>
            <a:r>
              <a:rPr lang="en-US" sz="2000" dirty="0">
                <a:solidFill>
                  <a:schemeClr val="tx2"/>
                </a:solidFill>
              </a:rPr>
              <a:t>Rules are data with citations, so a rule change is a data update.</a:t>
            </a:r>
            <a:endParaRPr lang="en-US" sz="2000" dirty="0"/>
          </a:p>
        </p:txBody>
      </p:sp>
      <p:sp>
        <p:nvSpPr>
          <p:cNvPr id="24" name="icon-bg-166"/>
          <p:cNvSpPr/>
          <p:nvPr/>
        </p:nvSpPr>
        <p:spPr>
          <a:xfrm>
            <a:off x="6172200" y="3657600"/>
            <a:ext cx="566928" cy="566928"/>
          </a:xfrm>
          <a:prstGeom prst="ellipse">
            <a:avLst/>
          </a:prstGeom>
          <a:solidFill>
            <a:schemeClr val="accent1"/>
          </a:solidFill>
          <a:ln/>
        </p:spPr>
      </p:sp>
      <p:pic>
        <p:nvPicPr>
          <p:cNvPr id="25" name="icon-167" descr="UserCheck icon">    </p:cNvPr>
          <p:cNvPicPr>
            <a:picLocks noChangeAspect="1"/>
          </p:cNvPicPr>
          <p:nvPr/>
        </p:nvPicPr>
        <p:blipFill>
          <a:blip r:embed="rId3"/>
          <a:stretch>
            <a:fillRect/>
          </a:stretch>
        </p:blipFill>
        <p:spPr>
          <a:xfrm>
            <a:off x="6308263" y="3793663"/>
            <a:ext cx="294803" cy="294803"/>
          </a:xfrm>
          <a:prstGeom prst="rect">
            <a:avLst/>
          </a:prstGeom>
        </p:spPr>
      </p:pic>
      <p:sp>
        <p:nvSpPr>
          <p:cNvPr id="26" name="text-168"/>
          <p:cNvSpPr txBox="1"/>
          <p:nvPr/>
        </p:nvSpPr>
        <p:spPr>
          <a:xfrm>
            <a:off x="6949440" y="3611880"/>
            <a:ext cx="4693615" cy="1325880"/>
          </a:xfrm>
          <a:prstGeom prst="rect">
            <a:avLst/>
          </a:prstGeom>
          <a:noFill/>
          <a:ln/>
        </p:spPr>
        <p:txBody>
          <a:bodyPr wrap="square" lIns="0" tIns="0" rIns="0" bIns="0" rtlCol="0" anchor="t"/>
          <a:lstStyle/>
          <a:p>
            <a:pPr indent="0" marL="0">
              <a:buNone/>
            </a:pPr>
            <a:r>
              <a:rPr lang="en-US" sz="2000" b="1" dirty="0">
                <a:solidFill>
                  <a:schemeClr val="tx1"/>
                </a:solidFill>
              </a:rPr>
              <a:t>A person signs off on every label and every cost.</a:t>
            </a:r>
            <a:endParaRPr lang="en-US" sz="2000" dirty="0"/>
          </a:p>
          <a:p>
            <a:pPr indent="0" marL="0">
              <a:buNone/>
            </a:pPr>
            <a:r>
              <a:rPr lang="en-US" sz="2000" dirty="0">
                <a:solidFill>
                  <a:schemeClr val="tx2"/>
                </a:solidFill>
              </a:rPr>
              <a:t>Safety certification stays with authorities and accredited labs.</a:t>
            </a:r>
            <a:endParaRPr lang="en-US" sz="2000" dirty="0"/>
          </a:p>
        </p:txBody>
      </p:sp>
      <p:sp>
        <p:nvSpPr>
          <p:cNvPr id="27" name="card-169"/>
          <p:cNvSpPr/>
          <p:nvPr/>
        </p:nvSpPr>
        <p:spPr>
          <a:xfrm>
            <a:off x="548640" y="5349240"/>
            <a:ext cx="3515258" cy="822960"/>
          </a:xfrm>
          <a:prstGeom prst="roundRect">
            <a:avLst>
              <a:gd name="adj" fmla="val 22222"/>
            </a:avLst>
          </a:prstGeom>
          <a:solidFill>
            <a:schemeClr val="accent4"/>
          </a:solidFill>
          <a:ln/>
        </p:spPr>
      </p:sp>
      <p:pic>
        <p:nvPicPr>
          <p:cNvPr id="28" name="icon-170" descr="Low literacy">    </p:cNvPr>
          <p:cNvPicPr>
            <a:picLocks noChangeAspect="1"/>
          </p:cNvPicPr>
          <p:nvPr/>
        </p:nvPicPr>
        <p:blipFill>
          <a:blip r:embed="rId4"/>
          <a:stretch>
            <a:fillRect/>
          </a:stretch>
        </p:blipFill>
        <p:spPr>
          <a:xfrm>
            <a:off x="777240" y="5568696"/>
            <a:ext cx="384048" cy="384048"/>
          </a:xfrm>
          <a:prstGeom prst="rect">
            <a:avLst/>
          </a:prstGeom>
        </p:spPr>
      </p:pic>
      <p:sp>
        <p:nvSpPr>
          <p:cNvPr id="29" name="text-171"/>
          <p:cNvSpPr txBox="1"/>
          <p:nvPr/>
        </p:nvSpPr>
        <p:spPr>
          <a:xfrm>
            <a:off x="1325880" y="5349240"/>
            <a:ext cx="2600858" cy="822960"/>
          </a:xfrm>
          <a:prstGeom prst="rect">
            <a:avLst/>
          </a:prstGeom>
          <a:noFill/>
          <a:ln/>
        </p:spPr>
        <p:txBody>
          <a:bodyPr wrap="square" lIns="0" tIns="0" rIns="0" bIns="0" rtlCol="0" anchor="ctr"/>
          <a:lstStyle/>
          <a:p>
            <a:pPr indent="0" marL="0">
              <a:buNone/>
            </a:pPr>
            <a:r>
              <a:rPr lang="en-US" sz="1800" b="1" dirty="0">
                <a:solidFill>
                  <a:schemeClr val="tx1"/>
                </a:solidFill>
              </a:rPr>
              <a:t>Low literacy</a:t>
            </a:r>
            <a:endParaRPr lang="en-US" sz="1800" dirty="0"/>
          </a:p>
          <a:p>
            <a:pPr indent="0" marL="0">
              <a:buNone/>
            </a:pPr>
            <a:r>
              <a:rPr lang="en-US" sz="1500" dirty="0">
                <a:solidFill>
                  <a:schemeClr val="tx2"/>
                </a:solidFill>
              </a:rPr>
              <a:t>Voice in, voice out</a:t>
            </a:r>
            <a:endParaRPr lang="en-US" sz="1800" dirty="0"/>
          </a:p>
        </p:txBody>
      </p:sp>
      <p:sp>
        <p:nvSpPr>
          <p:cNvPr id="30" name="card-172"/>
          <p:cNvSpPr/>
          <p:nvPr/>
        </p:nvSpPr>
        <p:spPr>
          <a:xfrm>
            <a:off x="4338218" y="5349240"/>
            <a:ext cx="3515258" cy="822960"/>
          </a:xfrm>
          <a:prstGeom prst="roundRect">
            <a:avLst>
              <a:gd name="adj" fmla="val 22222"/>
            </a:avLst>
          </a:prstGeom>
          <a:solidFill>
            <a:schemeClr val="accent4"/>
          </a:solidFill>
          <a:ln/>
        </p:spPr>
      </p:sp>
      <p:pic>
        <p:nvPicPr>
          <p:cNvPr id="31" name="icon-173" descr="Low connectivity">    </p:cNvPr>
          <p:cNvPicPr>
            <a:picLocks noChangeAspect="1"/>
          </p:cNvPicPr>
          <p:nvPr/>
        </p:nvPicPr>
        <p:blipFill>
          <a:blip r:embed="rId5"/>
          <a:stretch>
            <a:fillRect/>
          </a:stretch>
        </p:blipFill>
        <p:spPr>
          <a:xfrm>
            <a:off x="4566818" y="5568696"/>
            <a:ext cx="384048" cy="384048"/>
          </a:xfrm>
          <a:prstGeom prst="rect">
            <a:avLst/>
          </a:prstGeom>
        </p:spPr>
      </p:pic>
      <p:sp>
        <p:nvSpPr>
          <p:cNvPr id="32" name="text-174"/>
          <p:cNvSpPr txBox="1"/>
          <p:nvPr/>
        </p:nvSpPr>
        <p:spPr>
          <a:xfrm>
            <a:off x="5115458" y="5349240"/>
            <a:ext cx="2600858" cy="822960"/>
          </a:xfrm>
          <a:prstGeom prst="rect">
            <a:avLst/>
          </a:prstGeom>
          <a:noFill/>
          <a:ln/>
        </p:spPr>
        <p:txBody>
          <a:bodyPr wrap="square" lIns="0" tIns="0" rIns="0" bIns="0" rtlCol="0" anchor="ctr"/>
          <a:lstStyle/>
          <a:p>
            <a:pPr indent="0" marL="0">
              <a:buNone/>
            </a:pPr>
            <a:r>
              <a:rPr lang="en-US" sz="1800" b="1" dirty="0">
                <a:solidFill>
                  <a:schemeClr val="tx1"/>
                </a:solidFill>
              </a:rPr>
              <a:t>Low connectivity</a:t>
            </a:r>
            <a:endParaRPr lang="en-US" sz="1800" dirty="0"/>
          </a:p>
          <a:p>
            <a:pPr indent="0" marL="0">
              <a:buNone/>
            </a:pPr>
            <a:r>
              <a:rPr lang="en-US" sz="1500" dirty="0">
                <a:solidFill>
                  <a:schemeClr val="tx2"/>
                </a:solidFill>
              </a:rPr>
              <a:t>Small images, light pages</a:t>
            </a:r>
            <a:endParaRPr lang="en-US" sz="1800" dirty="0"/>
          </a:p>
        </p:txBody>
      </p:sp>
      <p:sp>
        <p:nvSpPr>
          <p:cNvPr id="33" name="card-175"/>
          <p:cNvSpPr/>
          <p:nvPr/>
        </p:nvSpPr>
        <p:spPr>
          <a:xfrm>
            <a:off x="8127797" y="5349240"/>
            <a:ext cx="3515258" cy="822960"/>
          </a:xfrm>
          <a:prstGeom prst="roundRect">
            <a:avLst>
              <a:gd name="adj" fmla="val 22222"/>
            </a:avLst>
          </a:prstGeom>
          <a:solidFill>
            <a:schemeClr val="accent4"/>
          </a:solidFill>
          <a:ln/>
        </p:spPr>
      </p:sp>
      <p:pic>
        <p:nvPicPr>
          <p:cNvPr id="34" name="icon-176" descr="Cheap Android phones">    </p:cNvPr>
          <p:cNvPicPr>
            <a:picLocks noChangeAspect="1"/>
          </p:cNvPicPr>
          <p:nvPr/>
        </p:nvPicPr>
        <p:blipFill>
          <a:blip r:embed="rId6"/>
          <a:stretch>
            <a:fillRect/>
          </a:stretch>
        </p:blipFill>
        <p:spPr>
          <a:xfrm>
            <a:off x="8356397" y="5568696"/>
            <a:ext cx="384048" cy="384048"/>
          </a:xfrm>
          <a:prstGeom prst="rect">
            <a:avLst/>
          </a:prstGeom>
        </p:spPr>
      </p:pic>
      <p:sp>
        <p:nvSpPr>
          <p:cNvPr id="35" name="text-177"/>
          <p:cNvSpPr txBox="1"/>
          <p:nvPr/>
        </p:nvSpPr>
        <p:spPr>
          <a:xfrm>
            <a:off x="8905037" y="5349240"/>
            <a:ext cx="2600858" cy="822960"/>
          </a:xfrm>
          <a:prstGeom prst="rect">
            <a:avLst/>
          </a:prstGeom>
          <a:noFill/>
          <a:ln/>
        </p:spPr>
        <p:txBody>
          <a:bodyPr wrap="square" lIns="0" tIns="0" rIns="0" bIns="0" rtlCol="0" anchor="ctr"/>
          <a:lstStyle/>
          <a:p>
            <a:pPr indent="0" marL="0">
              <a:buNone/>
            </a:pPr>
            <a:r>
              <a:rPr lang="en-US" sz="1800" b="1" dirty="0">
                <a:solidFill>
                  <a:schemeClr val="tx1"/>
                </a:solidFill>
              </a:rPr>
              <a:t>Cheap Android phones</a:t>
            </a:r>
            <a:endParaRPr lang="en-US" sz="1800" dirty="0"/>
          </a:p>
          <a:p>
            <a:pPr indent="0" marL="0">
              <a:buNone/>
            </a:pPr>
            <a:r>
              <a:rPr lang="en-US" sz="1500" dirty="0">
                <a:solidFill>
                  <a:schemeClr val="tx2"/>
                </a:solidFill>
              </a:rPr>
              <a:t>Big buttons, small app</a:t>
            </a:r>
            <a:endParaRPr lang="en-US" sz="18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Follow the money</a:t>
            </a:r>
            <a:endParaRPr lang="en-US" sz="3800" dirty="0"/>
          </a:p>
        </p:txBody>
      </p:sp>
      <p:sp>
        <p:nvSpPr>
          <p:cNvPr id="3" name="card-178"/>
          <p:cNvSpPr/>
          <p:nvPr/>
        </p:nvSpPr>
        <p:spPr>
          <a:xfrm>
            <a:off x="548640" y="1463040"/>
            <a:ext cx="3017520" cy="4526280"/>
          </a:xfrm>
          <a:prstGeom prst="roundRect">
            <a:avLst>
              <a:gd name="adj" fmla="val 4242"/>
            </a:avLst>
          </a:prstGeom>
          <a:solidFill>
            <a:schemeClr val="bg1"/>
          </a:solidFill>
          <a:ln/>
          <a:effectLst>
            <a:outerShdw sx="100000" sy="100000" kx="0" ky="0" algn="bl" rotWithShape="0" blurRad="127000" dist="25400" dir="5400000">
              <a:srgbClr val="1E1B18">
                <a:alpha val="10000"/>
              </a:srgbClr>
            </a:outerShdw>
          </a:effectLst>
        </p:spPr>
      </p:sp>
      <p:sp>
        <p:nvSpPr>
          <p:cNvPr id="4" name="icon-bg-179"/>
          <p:cNvSpPr/>
          <p:nvPr/>
        </p:nvSpPr>
        <p:spPr>
          <a:xfrm>
            <a:off x="868680" y="1783080"/>
            <a:ext cx="603504" cy="603504"/>
          </a:xfrm>
          <a:prstGeom prst="ellipse">
            <a:avLst/>
          </a:prstGeom>
          <a:solidFill>
            <a:schemeClr val="accent1"/>
          </a:solidFill>
          <a:ln/>
        </p:spPr>
      </p:sp>
      <p:pic>
        <p:nvPicPr>
          <p:cNvPr id="5" name="icon-180" descr="House icon">    </p:cNvPr>
          <p:cNvPicPr>
            <a:picLocks noChangeAspect="1"/>
          </p:cNvPicPr>
          <p:nvPr/>
        </p:nvPicPr>
        <p:blipFill>
          <a:blip r:embed="rId1"/>
          <a:stretch>
            <a:fillRect/>
          </a:stretch>
        </p:blipFill>
        <p:spPr>
          <a:xfrm>
            <a:off x="1013521" y="1927921"/>
            <a:ext cx="313822" cy="313822"/>
          </a:xfrm>
          <a:prstGeom prst="rect">
            <a:avLst/>
          </a:prstGeom>
        </p:spPr>
      </p:pic>
      <p:sp>
        <p:nvSpPr>
          <p:cNvPr id="6" name="text-181"/>
          <p:cNvSpPr txBox="1"/>
          <p:nvPr/>
        </p:nvSpPr>
        <p:spPr>
          <a:xfrm>
            <a:off x="1645920" y="1783080"/>
            <a:ext cx="1645920" cy="603504"/>
          </a:xfrm>
          <a:prstGeom prst="rect">
            <a:avLst/>
          </a:prstGeom>
          <a:noFill/>
          <a:ln/>
        </p:spPr>
        <p:txBody>
          <a:bodyPr wrap="square" lIns="0" tIns="0" rIns="0" bIns="0" rtlCol="0" anchor="ctr"/>
          <a:lstStyle/>
          <a:p>
            <a:pPr indent="0" marL="0">
              <a:buNone/>
            </a:pPr>
            <a:r>
              <a:rPr lang="en-US" sz="3200" dirty="0">
                <a:solidFill>
                  <a:schemeClr val="tx1"/>
                </a:solidFill>
                <a:latin typeface="+mj-lt" pitchFamily="34" charset="0"/>
                <a:ea typeface="+mj-lt" pitchFamily="34" charset="-122"/>
                <a:cs typeface="+mj-lt" pitchFamily="34" charset="-120"/>
              </a:rPr>
              <a:t>Sellers</a:t>
            </a:r>
            <a:endParaRPr lang="en-US" sz="3200" dirty="0"/>
          </a:p>
        </p:txBody>
      </p:sp>
      <p:sp>
        <p:nvSpPr>
          <p:cNvPr id="7" name="text-182"/>
          <p:cNvSpPr txBox="1"/>
          <p:nvPr/>
        </p:nvSpPr>
        <p:spPr>
          <a:xfrm>
            <a:off x="868680" y="2651760"/>
            <a:ext cx="2377440" cy="3063240"/>
          </a:xfrm>
          <a:prstGeom prst="rect">
            <a:avLst/>
          </a:prstGeom>
          <a:noFill/>
          <a:ln/>
        </p:spPr>
        <p:txBody>
          <a:bodyPr wrap="square" lIns="0" tIns="0" rIns="0" bIns="0" rtlCol="0" anchor="t"/>
          <a:lstStyle/>
          <a:p>
            <a:pPr indent="0" marL="0">
              <a:buNone/>
            </a:pPr>
            <a:r>
              <a:rPr lang="en-US" sz="2200" dirty="0">
                <a:solidFill>
                  <a:schemeClr val="tx1"/>
                </a:solidFill>
              </a:rPr>
              <a:t>Free for one product. ₹99/month adds unlimited products and print-ready label packs: less than one jar of achaar.</a:t>
            </a:r>
            <a:endParaRPr lang="en-US" sz="2200" dirty="0"/>
          </a:p>
        </p:txBody>
      </p:sp>
      <p:sp>
        <p:nvSpPr>
          <p:cNvPr id="8" name="card-183"/>
          <p:cNvSpPr/>
          <p:nvPr/>
        </p:nvSpPr>
        <p:spPr>
          <a:xfrm>
            <a:off x="3840480" y="1463040"/>
            <a:ext cx="4510735" cy="4526280"/>
          </a:xfrm>
          <a:prstGeom prst="roundRect">
            <a:avLst>
              <a:gd name="adj" fmla="val 2838"/>
            </a:avLst>
          </a:prstGeom>
          <a:solidFill>
            <a:schemeClr val="accent1"/>
          </a:solidFill>
          <a:ln/>
          <a:effectLst>
            <a:outerShdw sx="100000" sy="100000" kx="0" ky="0" algn="bl" rotWithShape="0" blurRad="127000" dist="25400" dir="5400000">
              <a:srgbClr val="1E1B18">
                <a:alpha val="10000"/>
              </a:srgbClr>
            </a:outerShdw>
          </a:effectLst>
        </p:spPr>
      </p:sp>
      <p:sp>
        <p:nvSpPr>
          <p:cNvPr id="9" name="icon-bg-184"/>
          <p:cNvSpPr/>
          <p:nvPr/>
        </p:nvSpPr>
        <p:spPr>
          <a:xfrm>
            <a:off x="4160520" y="1783080"/>
            <a:ext cx="603504" cy="603504"/>
          </a:xfrm>
          <a:prstGeom prst="ellipse">
            <a:avLst/>
          </a:prstGeom>
          <a:solidFill>
            <a:schemeClr val="accent2"/>
          </a:solidFill>
          <a:ln/>
        </p:spPr>
      </p:sp>
      <p:pic>
        <p:nvPicPr>
          <p:cNvPr id="10" name="icon-185" descr="Store icon">    </p:cNvPr>
          <p:cNvPicPr>
            <a:picLocks noChangeAspect="1"/>
          </p:cNvPicPr>
          <p:nvPr/>
        </p:nvPicPr>
        <p:blipFill>
          <a:blip r:embed="rId2"/>
          <a:stretch>
            <a:fillRect/>
          </a:stretch>
        </p:blipFill>
        <p:spPr>
          <a:xfrm>
            <a:off x="4305361" y="1927921"/>
            <a:ext cx="313822" cy="313822"/>
          </a:xfrm>
          <a:prstGeom prst="rect">
            <a:avLst/>
          </a:prstGeom>
        </p:spPr>
      </p:pic>
      <p:sp>
        <p:nvSpPr>
          <p:cNvPr id="11" name="text-186"/>
          <p:cNvSpPr txBox="1"/>
          <p:nvPr/>
        </p:nvSpPr>
        <p:spPr>
          <a:xfrm>
            <a:off x="4937760" y="1783080"/>
            <a:ext cx="3139135" cy="603504"/>
          </a:xfrm>
          <a:prstGeom prst="rect">
            <a:avLst/>
          </a:prstGeom>
          <a:noFill/>
          <a:ln/>
        </p:spPr>
        <p:txBody>
          <a:bodyPr wrap="square" lIns="0" tIns="0" rIns="0" bIns="0" rtlCol="0" anchor="ctr"/>
          <a:lstStyle/>
          <a:p>
            <a:pPr indent="0" marL="0">
              <a:buNone/>
            </a:pPr>
            <a:r>
              <a:rPr lang="en-US" sz="3200" dirty="0">
                <a:solidFill>
                  <a:schemeClr val="bg2"/>
                </a:solidFill>
                <a:latin typeface="+mj-lt" pitchFamily="34" charset="0"/>
                <a:ea typeface="+mj-lt" pitchFamily="34" charset="-122"/>
                <a:cs typeface="+mj-lt" pitchFamily="34" charset="-120"/>
              </a:rPr>
              <a:t>Buyers</a:t>
            </a:r>
            <a:endParaRPr lang="en-US" sz="3200" dirty="0"/>
          </a:p>
        </p:txBody>
      </p:sp>
      <p:sp>
        <p:nvSpPr>
          <p:cNvPr id="12" name="text-187"/>
          <p:cNvSpPr txBox="1"/>
          <p:nvPr/>
        </p:nvSpPr>
        <p:spPr>
          <a:xfrm>
            <a:off x="4160520" y="2651760"/>
            <a:ext cx="3870655" cy="3063240"/>
          </a:xfrm>
          <a:prstGeom prst="rect">
            <a:avLst/>
          </a:prstGeom>
          <a:noFill/>
          <a:ln/>
        </p:spPr>
        <p:txBody>
          <a:bodyPr wrap="square" lIns="0" tIns="0" rIns="0" bIns="0" rtlCol="0" anchor="t"/>
          <a:lstStyle/>
          <a:p>
            <a:pPr indent="0" marL="0">
              <a:buNone/>
            </a:pPr>
            <a:r>
              <a:rPr lang="en-US" sz="2200" dirty="0">
                <a:solidFill>
                  <a:schemeClr val="bg2"/>
                </a:solidFill>
              </a:rPr>
              <a:t>Retailers, ONDC seller apps and marketplaces spend effort finding small suppliers whose paperwork is in order. GharSe brings them compliance-ready producers. Paid per lead or by subscription.</a:t>
            </a:r>
            <a:endParaRPr lang="en-US" sz="2200" dirty="0"/>
          </a:p>
        </p:txBody>
      </p:sp>
      <p:sp>
        <p:nvSpPr>
          <p:cNvPr id="13" name="card-188"/>
          <p:cNvSpPr/>
          <p:nvPr/>
        </p:nvSpPr>
        <p:spPr>
          <a:xfrm>
            <a:off x="8625535" y="1463040"/>
            <a:ext cx="3017520" cy="4526280"/>
          </a:xfrm>
          <a:prstGeom prst="roundRect">
            <a:avLst>
              <a:gd name="adj" fmla="val 4242"/>
            </a:avLst>
          </a:prstGeom>
          <a:solidFill>
            <a:schemeClr val="bg1"/>
          </a:solidFill>
          <a:ln/>
          <a:effectLst>
            <a:outerShdw sx="100000" sy="100000" kx="0" ky="0" algn="bl" rotWithShape="0" blurRad="127000" dist="25400" dir="5400000">
              <a:srgbClr val="1E1B18">
                <a:alpha val="10000"/>
              </a:srgbClr>
            </a:outerShdw>
          </a:effectLst>
        </p:spPr>
      </p:sp>
      <p:sp>
        <p:nvSpPr>
          <p:cNvPr id="14" name="icon-bg-189"/>
          <p:cNvSpPr/>
          <p:nvPr/>
        </p:nvSpPr>
        <p:spPr>
          <a:xfrm>
            <a:off x="8945575" y="1783080"/>
            <a:ext cx="603504" cy="603504"/>
          </a:xfrm>
          <a:prstGeom prst="ellipse">
            <a:avLst/>
          </a:prstGeom>
          <a:solidFill>
            <a:schemeClr val="accent1"/>
          </a:solidFill>
          <a:ln/>
        </p:spPr>
      </p:sp>
      <p:pic>
        <p:nvPicPr>
          <p:cNvPr id="15" name="icon-190" descr="Handshake icon">    </p:cNvPr>
          <p:cNvPicPr>
            <a:picLocks noChangeAspect="1"/>
          </p:cNvPicPr>
          <p:nvPr/>
        </p:nvPicPr>
        <p:blipFill>
          <a:blip r:embed="rId3"/>
          <a:stretch>
            <a:fillRect/>
          </a:stretch>
        </p:blipFill>
        <p:spPr>
          <a:xfrm>
            <a:off x="9090416" y="1927921"/>
            <a:ext cx="313822" cy="313822"/>
          </a:xfrm>
          <a:prstGeom prst="rect">
            <a:avLst/>
          </a:prstGeom>
        </p:spPr>
      </p:pic>
      <p:sp>
        <p:nvSpPr>
          <p:cNvPr id="16" name="text-191"/>
          <p:cNvSpPr txBox="1"/>
          <p:nvPr/>
        </p:nvSpPr>
        <p:spPr>
          <a:xfrm>
            <a:off x="9722815" y="1783080"/>
            <a:ext cx="1645920" cy="603504"/>
          </a:xfrm>
          <a:prstGeom prst="rect">
            <a:avLst/>
          </a:prstGeom>
          <a:noFill/>
          <a:ln/>
        </p:spPr>
        <p:txBody>
          <a:bodyPr wrap="square" lIns="0" tIns="0" rIns="0" bIns="0" rtlCol="0" anchor="ctr"/>
          <a:lstStyle/>
          <a:p>
            <a:pPr indent="0" marL="0">
              <a:buNone/>
            </a:pPr>
            <a:r>
              <a:rPr lang="en-US" sz="3200" dirty="0">
                <a:solidFill>
                  <a:schemeClr val="tx1"/>
                </a:solidFill>
                <a:latin typeface="+mj-lt" pitchFamily="34" charset="0"/>
                <a:ea typeface="+mj-lt" pitchFamily="34" charset="-122"/>
                <a:cs typeface="+mj-lt" pitchFamily="34" charset="-120"/>
              </a:rPr>
              <a:t>Partners</a:t>
            </a:r>
            <a:endParaRPr lang="en-US" sz="3200" dirty="0"/>
          </a:p>
        </p:txBody>
      </p:sp>
      <p:sp>
        <p:nvSpPr>
          <p:cNvPr id="17" name="text-192"/>
          <p:cNvSpPr txBox="1"/>
          <p:nvPr/>
        </p:nvSpPr>
        <p:spPr>
          <a:xfrm>
            <a:off x="8945575" y="2651760"/>
            <a:ext cx="2377440" cy="3063240"/>
          </a:xfrm>
          <a:prstGeom prst="rect">
            <a:avLst/>
          </a:prstGeom>
          <a:noFill/>
          <a:ln/>
        </p:spPr>
        <p:txBody>
          <a:bodyPr wrap="square" lIns="0" tIns="0" rIns="0" bIns="0" rtlCol="0" anchor="t"/>
          <a:lstStyle/>
          <a:p>
            <a:pPr indent="0" marL="0">
              <a:buNone/>
            </a:pPr>
            <a:r>
              <a:rPr lang="en-US" sz="2200" dirty="0">
                <a:solidFill>
                  <a:schemeClr val="tx1"/>
                </a:solidFill>
              </a:rPr>
              <a:t>Referral fees from packaging and label printers, and from food testing labs for shelf-life tests.</a:t>
            </a:r>
            <a:endParaRPr lang="en-US" sz="2200" dirty="0"/>
          </a:p>
        </p:txBody>
      </p:sp>
      <p:sp>
        <p:nvSpPr>
          <p:cNvPr id="18" name="chip-193"/>
          <p:cNvSpPr/>
          <p:nvPr/>
        </p:nvSpPr>
        <p:spPr>
          <a:xfrm>
            <a:off x="6385255" y="1901952"/>
            <a:ext cx="1645920" cy="365760"/>
          </a:xfrm>
          <a:prstGeom prst="roundRect">
            <a:avLst>
              <a:gd name="adj" fmla="val 50000"/>
            </a:avLst>
          </a:prstGeom>
          <a:solidFill>
            <a:schemeClr val="accent2"/>
          </a:solidFill>
          <a:ln/>
        </p:spPr>
      </p:sp>
      <p:sp>
        <p:nvSpPr>
          <p:cNvPr id="19" name="text-194"/>
          <p:cNvSpPr txBox="1"/>
          <p:nvPr/>
        </p:nvSpPr>
        <p:spPr>
          <a:xfrm>
            <a:off x="6385255" y="1901952"/>
            <a:ext cx="1645920" cy="365760"/>
          </a:xfrm>
          <a:prstGeom prst="rect">
            <a:avLst/>
          </a:prstGeom>
          <a:noFill/>
          <a:ln/>
        </p:spPr>
        <p:txBody>
          <a:bodyPr wrap="square" lIns="0" tIns="0" rIns="0" bIns="0" rtlCol="0" anchor="ctr"/>
          <a:lstStyle/>
          <a:p>
            <a:pPr algn="ctr" indent="0" marL="0">
              <a:buNone/>
            </a:pPr>
            <a:r>
              <a:rPr lang="en-US" sz="1300" b="1" spc="150" kern="0" dirty="0">
                <a:solidFill>
                  <a:schemeClr val="tx1"/>
                </a:solidFill>
              </a:rPr>
              <a:t>THE BIG ONE</a:t>
            </a:r>
            <a:endParaRPr lang="en-US" sz="13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Go-to-market</a:t>
            </a:r>
            <a:endParaRPr lang="en-US" sz="3800" dirty="0"/>
          </a:p>
        </p:txBody>
      </p:sp>
      <p:sp>
        <p:nvSpPr>
          <p:cNvPr id="3" name="card-195"/>
          <p:cNvSpPr/>
          <p:nvPr/>
        </p:nvSpPr>
        <p:spPr>
          <a:xfrm>
            <a:off x="548640" y="1371600"/>
            <a:ext cx="11094415" cy="1051560"/>
          </a:xfrm>
          <a:prstGeom prst="roundRect">
            <a:avLst>
              <a:gd name="adj" fmla="val 12174"/>
            </a:avLst>
          </a:prstGeom>
          <a:solidFill>
            <a:schemeClr val="bg1"/>
          </a:solidFill>
          <a:ln/>
          <a:effectLst>
            <a:outerShdw sx="100000" sy="100000" kx="0" ky="0" algn="bl" rotWithShape="0" blurRad="127000" dist="25400" dir="5400000">
              <a:srgbClr val="1E1B18">
                <a:alpha val="10000"/>
              </a:srgbClr>
            </a:outerShdw>
          </a:effectLst>
        </p:spPr>
      </p:sp>
      <p:sp>
        <p:nvSpPr>
          <p:cNvPr id="4" name="icon-bg-196"/>
          <p:cNvSpPr/>
          <p:nvPr/>
        </p:nvSpPr>
        <p:spPr>
          <a:xfrm>
            <a:off x="868680" y="1595628"/>
            <a:ext cx="603504" cy="603504"/>
          </a:xfrm>
          <a:prstGeom prst="ellipse">
            <a:avLst/>
          </a:prstGeom>
          <a:solidFill>
            <a:schemeClr val="accent1"/>
          </a:solidFill>
          <a:ln/>
        </p:spPr>
      </p:sp>
      <p:pic>
        <p:nvPicPr>
          <p:cNvPr id="5" name="icon-197" descr="MapPin icon">    </p:cNvPr>
          <p:cNvPicPr>
            <a:picLocks noChangeAspect="1"/>
          </p:cNvPicPr>
          <p:nvPr/>
        </p:nvPicPr>
        <p:blipFill>
          <a:blip r:embed="rId1"/>
          <a:stretch>
            <a:fillRect/>
          </a:stretch>
        </p:blipFill>
        <p:spPr>
          <a:xfrm>
            <a:off x="1013521" y="1740469"/>
            <a:ext cx="313822" cy="313822"/>
          </a:xfrm>
          <a:prstGeom prst="rect">
            <a:avLst/>
          </a:prstGeom>
        </p:spPr>
      </p:pic>
      <p:sp>
        <p:nvSpPr>
          <p:cNvPr id="6" name="text-198"/>
          <p:cNvSpPr txBox="1"/>
          <p:nvPr/>
        </p:nvSpPr>
        <p:spPr>
          <a:xfrm>
            <a:off x="1691640" y="1371600"/>
            <a:ext cx="2011680" cy="1051560"/>
          </a:xfrm>
          <a:prstGeom prst="rect">
            <a:avLst/>
          </a:prstGeom>
          <a:noFill/>
          <a:ln/>
        </p:spPr>
        <p:txBody>
          <a:bodyPr wrap="square" lIns="0" tIns="0" rIns="0" bIns="0" rtlCol="0" anchor="ctr"/>
          <a:lstStyle/>
          <a:p>
            <a:pPr indent="0" marL="0">
              <a:buNone/>
            </a:pPr>
            <a:r>
              <a:rPr lang="en-US" sz="3200" dirty="0">
                <a:solidFill>
                  <a:schemeClr val="accent1"/>
                </a:solidFill>
                <a:latin typeface="+mj-lt" pitchFamily="34" charset="0"/>
                <a:ea typeface="+mj-lt" pitchFamily="34" charset="-122"/>
                <a:cs typeface="+mj-lt" pitchFamily="34" charset="-120"/>
              </a:rPr>
              <a:t>Wedge</a:t>
            </a:r>
            <a:endParaRPr lang="en-US" sz="3200" dirty="0"/>
          </a:p>
        </p:txBody>
      </p:sp>
      <p:sp>
        <p:nvSpPr>
          <p:cNvPr id="7" name="text-199"/>
          <p:cNvSpPr txBox="1"/>
          <p:nvPr/>
        </p:nvSpPr>
        <p:spPr>
          <a:xfrm>
            <a:off x="3749040" y="1371600"/>
            <a:ext cx="7573975" cy="1051560"/>
          </a:xfrm>
          <a:prstGeom prst="rect">
            <a:avLst/>
          </a:prstGeom>
          <a:noFill/>
          <a:ln/>
        </p:spPr>
        <p:txBody>
          <a:bodyPr wrap="square" lIns="0" tIns="0" rIns="0" bIns="0" rtlCol="0" anchor="ctr"/>
          <a:lstStyle/>
          <a:p>
            <a:pPr indent="0" marL="0">
              <a:buNone/>
            </a:pPr>
            <a:r>
              <a:rPr lang="en-US" sz="2200" dirty="0">
                <a:solidFill>
                  <a:schemeClr val="tx1"/>
                </a:solidFill>
              </a:rPr>
              <a:t>Home food sellers in Delhi NCR, reached through Instagram and WhatsApp seller communities.</a:t>
            </a:r>
            <a:endParaRPr lang="en-US" sz="2200" dirty="0"/>
          </a:p>
        </p:txBody>
      </p:sp>
      <p:sp>
        <p:nvSpPr>
          <p:cNvPr id="8" name="card-200"/>
          <p:cNvSpPr/>
          <p:nvPr/>
        </p:nvSpPr>
        <p:spPr>
          <a:xfrm>
            <a:off x="548640" y="2651760"/>
            <a:ext cx="11094415" cy="1417320"/>
          </a:xfrm>
          <a:prstGeom prst="roundRect">
            <a:avLst>
              <a:gd name="adj" fmla="val 9032"/>
            </a:avLst>
          </a:prstGeom>
          <a:solidFill>
            <a:schemeClr val="bg1"/>
          </a:solidFill>
          <a:ln/>
          <a:effectLst>
            <a:outerShdw sx="100000" sy="100000" kx="0" ky="0" algn="bl" rotWithShape="0" blurRad="127000" dist="25400" dir="5400000">
              <a:srgbClr val="1E1B18">
                <a:alpha val="10000"/>
              </a:srgbClr>
            </a:outerShdw>
          </a:effectLst>
        </p:spPr>
      </p:sp>
      <p:sp>
        <p:nvSpPr>
          <p:cNvPr id="9" name="icon-bg-201"/>
          <p:cNvSpPr/>
          <p:nvPr/>
        </p:nvSpPr>
        <p:spPr>
          <a:xfrm>
            <a:off x="868680" y="3058668"/>
            <a:ext cx="603504" cy="603504"/>
          </a:xfrm>
          <a:prstGeom prst="ellipse">
            <a:avLst/>
          </a:prstGeom>
          <a:solidFill>
            <a:schemeClr val="accent1"/>
          </a:solidFill>
          <a:ln/>
        </p:spPr>
      </p:sp>
      <p:pic>
        <p:nvPicPr>
          <p:cNvPr id="10" name="icon-202" descr="Users icon">    </p:cNvPr>
          <p:cNvPicPr>
            <a:picLocks noChangeAspect="1"/>
          </p:cNvPicPr>
          <p:nvPr/>
        </p:nvPicPr>
        <p:blipFill>
          <a:blip r:embed="rId2"/>
          <a:stretch>
            <a:fillRect/>
          </a:stretch>
        </p:blipFill>
        <p:spPr>
          <a:xfrm>
            <a:off x="1013521" y="3203509"/>
            <a:ext cx="313822" cy="313822"/>
          </a:xfrm>
          <a:prstGeom prst="rect">
            <a:avLst/>
          </a:prstGeom>
        </p:spPr>
      </p:pic>
      <p:sp>
        <p:nvSpPr>
          <p:cNvPr id="11" name="text-203"/>
          <p:cNvSpPr txBox="1"/>
          <p:nvPr/>
        </p:nvSpPr>
        <p:spPr>
          <a:xfrm>
            <a:off x="1691640" y="2651760"/>
            <a:ext cx="2011680" cy="1417320"/>
          </a:xfrm>
          <a:prstGeom prst="rect">
            <a:avLst/>
          </a:prstGeom>
          <a:noFill/>
          <a:ln/>
        </p:spPr>
        <p:txBody>
          <a:bodyPr wrap="square" lIns="0" tIns="0" rIns="0" bIns="0" rtlCol="0" anchor="ctr"/>
          <a:lstStyle/>
          <a:p>
            <a:pPr indent="0" marL="0">
              <a:buNone/>
            </a:pPr>
            <a:r>
              <a:rPr lang="en-US" sz="3200" dirty="0">
                <a:solidFill>
                  <a:schemeClr val="accent1"/>
                </a:solidFill>
                <a:latin typeface="+mj-lt" pitchFamily="34" charset="0"/>
                <a:ea typeface="+mj-lt" pitchFamily="34" charset="-122"/>
                <a:cs typeface="+mj-lt" pitchFamily="34" charset="-120"/>
              </a:rPr>
              <a:t>Scale</a:t>
            </a:r>
            <a:endParaRPr lang="en-US" sz="3200" dirty="0"/>
          </a:p>
        </p:txBody>
      </p:sp>
      <p:sp>
        <p:nvSpPr>
          <p:cNvPr id="12" name="text-204"/>
          <p:cNvSpPr txBox="1"/>
          <p:nvPr/>
        </p:nvSpPr>
        <p:spPr>
          <a:xfrm>
            <a:off x="3749040" y="2651760"/>
            <a:ext cx="7573975" cy="1417320"/>
          </a:xfrm>
          <a:prstGeom prst="rect">
            <a:avLst/>
          </a:prstGeom>
          <a:noFill/>
          <a:ln/>
        </p:spPr>
        <p:txBody>
          <a:bodyPr wrap="square" lIns="0" tIns="0" rIns="0" bIns="0" rtlCol="0" anchor="ctr"/>
          <a:lstStyle/>
          <a:p>
            <a:pPr indent="0" marL="0">
              <a:buNone/>
            </a:pPr>
            <a:r>
              <a:rPr lang="en-US" sz="2200" dirty="0">
                <a:solidFill>
                  <a:schemeClr val="tx1"/>
                </a:solidFill>
              </a:rPr>
              <a:t>Self-help group federations and state rural livelihood missions, which already run formalisation programmes, plus food processing training institutes.</a:t>
            </a:r>
            <a:endParaRPr lang="en-US" sz="2200" dirty="0"/>
          </a:p>
        </p:txBody>
      </p:sp>
      <p:sp>
        <p:nvSpPr>
          <p:cNvPr id="13" name="card-205"/>
          <p:cNvSpPr/>
          <p:nvPr/>
        </p:nvSpPr>
        <p:spPr>
          <a:xfrm>
            <a:off x="548640" y="4297680"/>
            <a:ext cx="11094415" cy="1691640"/>
          </a:xfrm>
          <a:prstGeom prst="roundRect">
            <a:avLst>
              <a:gd name="adj" fmla="val 7568"/>
            </a:avLst>
          </a:prstGeom>
          <a:solidFill>
            <a:schemeClr val="bg1"/>
          </a:solidFill>
          <a:ln/>
          <a:effectLst>
            <a:outerShdw sx="100000" sy="100000" kx="0" ky="0" algn="bl" rotWithShape="0" blurRad="127000" dist="25400" dir="5400000">
              <a:srgbClr val="1E1B18">
                <a:alpha val="10000"/>
              </a:srgbClr>
            </a:outerShdw>
          </a:effectLst>
        </p:spPr>
      </p:sp>
      <p:sp>
        <p:nvSpPr>
          <p:cNvPr id="14" name="icon-bg-206"/>
          <p:cNvSpPr/>
          <p:nvPr/>
        </p:nvSpPr>
        <p:spPr>
          <a:xfrm>
            <a:off x="868680" y="4841748"/>
            <a:ext cx="603504" cy="603504"/>
          </a:xfrm>
          <a:prstGeom prst="ellipse">
            <a:avLst/>
          </a:prstGeom>
          <a:solidFill>
            <a:schemeClr val="accent1"/>
          </a:solidFill>
          <a:ln/>
        </p:spPr>
      </p:sp>
      <p:pic>
        <p:nvPicPr>
          <p:cNvPr id="15" name="icon-207" descr="DoorOpen icon">    </p:cNvPr>
          <p:cNvPicPr>
            <a:picLocks noChangeAspect="1"/>
          </p:cNvPicPr>
          <p:nvPr/>
        </p:nvPicPr>
        <p:blipFill>
          <a:blip r:embed="rId3"/>
          <a:stretch>
            <a:fillRect/>
          </a:stretch>
        </p:blipFill>
        <p:spPr>
          <a:xfrm>
            <a:off x="1013521" y="4986589"/>
            <a:ext cx="313822" cy="313822"/>
          </a:xfrm>
          <a:prstGeom prst="rect">
            <a:avLst/>
          </a:prstGeom>
        </p:spPr>
      </p:pic>
      <p:sp>
        <p:nvSpPr>
          <p:cNvPr id="16" name="text-208"/>
          <p:cNvSpPr txBox="1"/>
          <p:nvPr/>
        </p:nvSpPr>
        <p:spPr>
          <a:xfrm>
            <a:off x="1691640" y="4297680"/>
            <a:ext cx="2011680" cy="1691640"/>
          </a:xfrm>
          <a:prstGeom prst="rect">
            <a:avLst/>
          </a:prstGeom>
          <a:noFill/>
          <a:ln/>
        </p:spPr>
        <p:txBody>
          <a:bodyPr wrap="square" lIns="0" tIns="0" rIns="0" bIns="0" rtlCol="0" anchor="ctr"/>
          <a:lstStyle/>
          <a:p>
            <a:pPr indent="0" marL="0">
              <a:buNone/>
            </a:pPr>
            <a:r>
              <a:rPr lang="en-US" sz="3200" dirty="0">
                <a:solidFill>
                  <a:schemeClr val="accent1"/>
                </a:solidFill>
                <a:latin typeface="+mj-lt" pitchFamily="34" charset="0"/>
                <a:ea typeface="+mj-lt" pitchFamily="34" charset="-122"/>
                <a:cs typeface="+mj-lt" pitchFamily="34" charset="-120"/>
              </a:rPr>
              <a:t>Why now</a:t>
            </a:r>
            <a:endParaRPr lang="en-US" sz="3200" dirty="0"/>
          </a:p>
        </p:txBody>
      </p:sp>
      <p:sp>
        <p:nvSpPr>
          <p:cNvPr id="17" name="text-209"/>
          <p:cNvSpPr txBox="1"/>
          <p:nvPr/>
        </p:nvSpPr>
        <p:spPr>
          <a:xfrm>
            <a:off x="3749040" y="4297680"/>
            <a:ext cx="7573975" cy="1691640"/>
          </a:xfrm>
          <a:prstGeom prst="rect">
            <a:avLst/>
          </a:prstGeom>
          <a:noFill/>
          <a:ln/>
        </p:spPr>
        <p:txBody>
          <a:bodyPr wrap="square" lIns="0" tIns="0" rIns="0" bIns="0" rtlCol="0" anchor="ctr"/>
          <a:lstStyle/>
          <a:p>
            <a:pPr indent="0" marL="0">
              <a:buNone/>
            </a:pPr>
            <a:r>
              <a:rPr lang="en-US" sz="2200" dirty="0">
                <a:solidFill>
                  <a:schemeClr val="tx1"/>
                </a:solidFill>
              </a:rPr>
              <a:t>FSSAI simplified registration for small businesses in 2026, and ONDC is opening e-commerce to small sellers. The door is open; sellers just need help walking through it.</a:t>
            </a:r>
            <a:endParaRPr lang="en-US" sz="22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94415" cy="777240"/>
          </a:xfrm>
          <a:prstGeom prst="rect">
            <a:avLst/>
          </a:prstGeom>
          <a:noFill/>
          <a:ln/>
        </p:spPr>
        <p:txBody>
          <a:bodyPr wrap="square" lIns="0" tIns="0" rIns="0" bIns="0" rtlCol="0" anchor="ctr"/>
          <a:lstStyle/>
          <a:p>
            <a:pPr algn="l" indent="0" marL="0">
              <a:buNone/>
            </a:pPr>
            <a:r>
              <a:rPr lang="en-US" sz="3800" dirty="0">
                <a:solidFill>
                  <a:schemeClr val="tx1"/>
                </a:solidFill>
              </a:rPr>
              <a:t>Status and roadmap</a:t>
            </a:r>
            <a:endParaRPr lang="en-US" sz="3800" dirty="0"/>
          </a:p>
        </p:txBody>
      </p:sp>
      <p:sp>
        <p:nvSpPr>
          <p:cNvPr id="3" name="line-210"/>
          <p:cNvSpPr/>
          <p:nvPr/>
        </p:nvSpPr>
        <p:spPr>
          <a:xfrm>
            <a:off x="1832572" y="2057400"/>
            <a:ext cx="8526551" cy="0"/>
          </a:xfrm>
          <a:prstGeom prst="line">
            <a:avLst/>
          </a:prstGeom>
          <a:noFill/>
          <a:ln w="38100">
            <a:solidFill>
              <a:schemeClr val="accent5"/>
            </a:solidFill>
            <a:prstDash val="solid"/>
          </a:ln>
        </p:spPr>
      </p:sp>
      <p:sp>
        <p:nvSpPr>
          <p:cNvPr id="4" name="text-211"/>
          <p:cNvSpPr txBox="1"/>
          <p:nvPr/>
        </p:nvSpPr>
        <p:spPr>
          <a:xfrm>
            <a:off x="548640" y="1280160"/>
            <a:ext cx="2567864" cy="502920"/>
          </a:xfrm>
          <a:prstGeom prst="rect">
            <a:avLst/>
          </a:prstGeom>
          <a:noFill/>
          <a:ln/>
        </p:spPr>
        <p:txBody>
          <a:bodyPr wrap="square" lIns="0" tIns="0" rIns="0" bIns="0" rtlCol="0" anchor="ctr"/>
          <a:lstStyle/>
          <a:p>
            <a:pPr algn="ctr" indent="0" marL="0">
              <a:buNone/>
            </a:pPr>
            <a:r>
              <a:rPr lang="en-US" sz="2800" dirty="0">
                <a:solidFill>
                  <a:schemeClr val="accent1"/>
                </a:solidFill>
                <a:latin typeface="+mj-lt" pitchFamily="34" charset="0"/>
                <a:ea typeface="+mj-lt" pitchFamily="34" charset="-122"/>
                <a:cs typeface="+mj-lt" pitchFamily="34" charset="-120"/>
              </a:rPr>
              <a:t>Now</a:t>
            </a:r>
            <a:endParaRPr lang="en-US" sz="2800" dirty="0"/>
          </a:p>
        </p:txBody>
      </p:sp>
      <p:sp>
        <p:nvSpPr>
          <p:cNvPr id="5" name="milestone-212"/>
          <p:cNvSpPr/>
          <p:nvPr/>
        </p:nvSpPr>
        <p:spPr>
          <a:xfrm>
            <a:off x="1649692" y="1874520"/>
            <a:ext cx="365760" cy="365760"/>
          </a:xfrm>
          <a:prstGeom prst="ellipse">
            <a:avLst/>
          </a:prstGeom>
          <a:solidFill>
            <a:schemeClr val="accent1"/>
          </a:solidFill>
          <a:ln/>
        </p:spPr>
      </p:sp>
      <p:sp>
        <p:nvSpPr>
          <p:cNvPr id="6" name="card-213"/>
          <p:cNvSpPr/>
          <p:nvPr/>
        </p:nvSpPr>
        <p:spPr>
          <a:xfrm>
            <a:off x="548640" y="2377440"/>
            <a:ext cx="2567864" cy="2743200"/>
          </a:xfrm>
          <a:prstGeom prst="roundRect">
            <a:avLst>
              <a:gd name="adj" fmla="val 4985"/>
            </a:avLst>
          </a:prstGeom>
          <a:solidFill>
            <a:schemeClr val="accent4"/>
          </a:solidFill>
          <a:ln/>
        </p:spPr>
      </p:sp>
      <p:sp>
        <p:nvSpPr>
          <p:cNvPr id="7" name="text-214"/>
          <p:cNvSpPr txBox="1"/>
          <p:nvPr/>
        </p:nvSpPr>
        <p:spPr>
          <a:xfrm>
            <a:off x="749808" y="2542032"/>
            <a:ext cx="2165528" cy="2487168"/>
          </a:xfrm>
          <a:prstGeom prst="rect">
            <a:avLst/>
          </a:prstGeom>
          <a:noFill/>
          <a:ln/>
        </p:spPr>
        <p:txBody>
          <a:bodyPr wrap="square" lIns="0" tIns="0" rIns="0" bIns="0" rtlCol="0" anchor="t"/>
          <a:lstStyle/>
          <a:p>
            <a:pPr indent="0" marL="0">
              <a:buNone/>
            </a:pPr>
            <a:r>
              <a:rPr lang="en-US" sz="2000" b="1" dirty="0">
                <a:solidFill>
                  <a:schemeClr val="tx1"/>
                </a:solidFill>
              </a:rPr>
              <a:t>Prototype in build</a:t>
            </a:r>
            <a:endParaRPr lang="en-US" sz="2000" dirty="0"/>
          </a:p>
          <a:p>
            <a:pPr indent="0" marL="0">
              <a:buNone/>
            </a:pPr>
            <a:r>
              <a:rPr lang="en-US" sz="2000" dirty="0">
                <a:solidFill>
                  <a:schemeClr val="tx1"/>
                </a:solidFill>
              </a:rPr>
              <a:t>Chat simulator, tested maths core, 2 demo products: aam ka achaar, besan ladoo</a:t>
            </a:r>
            <a:endParaRPr lang="en-US" sz="2000" dirty="0"/>
          </a:p>
        </p:txBody>
      </p:sp>
      <p:sp>
        <p:nvSpPr>
          <p:cNvPr id="8" name="text-215"/>
          <p:cNvSpPr txBox="1"/>
          <p:nvPr/>
        </p:nvSpPr>
        <p:spPr>
          <a:xfrm>
            <a:off x="3390824" y="1280160"/>
            <a:ext cx="2567864" cy="502920"/>
          </a:xfrm>
          <a:prstGeom prst="rect">
            <a:avLst/>
          </a:prstGeom>
          <a:noFill/>
          <a:ln/>
        </p:spPr>
        <p:txBody>
          <a:bodyPr wrap="square" lIns="0" tIns="0" rIns="0" bIns="0" rtlCol="0" anchor="ctr"/>
          <a:lstStyle/>
          <a:p>
            <a:pPr algn="ctr" indent="0" marL="0">
              <a:buNone/>
            </a:pPr>
            <a:r>
              <a:rPr lang="en-US" sz="2800" dirty="0">
                <a:solidFill>
                  <a:schemeClr val="accent1"/>
                </a:solidFill>
                <a:latin typeface="+mj-lt" pitchFamily="34" charset="0"/>
                <a:ea typeface="+mj-lt" pitchFamily="34" charset="-122"/>
                <a:cs typeface="+mj-lt" pitchFamily="34" charset="-120"/>
              </a:rPr>
              <a:t>Nov 2026</a:t>
            </a:r>
            <a:endParaRPr lang="en-US" sz="2800" dirty="0"/>
          </a:p>
        </p:txBody>
      </p:sp>
      <p:sp>
        <p:nvSpPr>
          <p:cNvPr id="9" name="milestone-216"/>
          <p:cNvSpPr/>
          <p:nvPr/>
        </p:nvSpPr>
        <p:spPr>
          <a:xfrm>
            <a:off x="4491876" y="1874520"/>
            <a:ext cx="365760" cy="365760"/>
          </a:xfrm>
          <a:prstGeom prst="ellipse">
            <a:avLst/>
          </a:prstGeom>
          <a:solidFill>
            <a:schemeClr val="bg1"/>
          </a:solidFill>
          <a:ln w="38100">
            <a:solidFill>
              <a:schemeClr val="accent2"/>
            </a:solidFill>
            <a:prstDash val="solid"/>
          </a:ln>
        </p:spPr>
      </p:sp>
      <p:sp>
        <p:nvSpPr>
          <p:cNvPr id="10" name="card-217"/>
          <p:cNvSpPr/>
          <p:nvPr/>
        </p:nvSpPr>
        <p:spPr>
          <a:xfrm>
            <a:off x="3390824" y="2377440"/>
            <a:ext cx="2567864" cy="274320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11" name="text-218"/>
          <p:cNvSpPr txBox="1"/>
          <p:nvPr/>
        </p:nvSpPr>
        <p:spPr>
          <a:xfrm>
            <a:off x="3591992" y="2542032"/>
            <a:ext cx="2165528" cy="2487168"/>
          </a:xfrm>
          <a:prstGeom prst="rect">
            <a:avLst/>
          </a:prstGeom>
          <a:noFill/>
          <a:ln/>
        </p:spPr>
        <p:txBody>
          <a:bodyPr wrap="square" lIns="0" tIns="0" rIns="0" bIns="0" rtlCol="0" anchor="t"/>
          <a:lstStyle/>
          <a:p>
            <a:pPr indent="0" marL="0">
              <a:buNone/>
            </a:pPr>
            <a:r>
              <a:rPr lang="en-US" sz="2000" b="1" dirty="0">
                <a:solidFill>
                  <a:schemeClr val="tx1"/>
                </a:solidFill>
              </a:rPr>
              <a:t>Field interviews</a:t>
            </a:r>
            <a:endParaRPr lang="en-US" sz="2000" dirty="0"/>
          </a:p>
          <a:p>
            <a:pPr indent="0" marL="0">
              <a:buNone/>
            </a:pPr>
            <a:r>
              <a:rPr lang="en-US" sz="2000" dirty="0">
                <a:solidFill>
                  <a:schemeClr val="tx1"/>
                </a:solidFill>
              </a:rPr>
              <a:t>with 20 home food sellers in NCR, to test the flow and the ₹99 price</a:t>
            </a:r>
            <a:endParaRPr lang="en-US" sz="2000" dirty="0"/>
          </a:p>
        </p:txBody>
      </p:sp>
      <p:sp>
        <p:nvSpPr>
          <p:cNvPr id="12" name="text-219"/>
          <p:cNvSpPr txBox="1"/>
          <p:nvPr/>
        </p:nvSpPr>
        <p:spPr>
          <a:xfrm>
            <a:off x="6233008" y="1280160"/>
            <a:ext cx="2567864" cy="502920"/>
          </a:xfrm>
          <a:prstGeom prst="rect">
            <a:avLst/>
          </a:prstGeom>
          <a:noFill/>
          <a:ln/>
        </p:spPr>
        <p:txBody>
          <a:bodyPr wrap="square" lIns="0" tIns="0" rIns="0" bIns="0" rtlCol="0" anchor="ctr"/>
          <a:lstStyle/>
          <a:p>
            <a:pPr algn="ctr" indent="0" marL="0">
              <a:buNone/>
            </a:pPr>
            <a:r>
              <a:rPr lang="en-US" sz="2800" dirty="0">
                <a:solidFill>
                  <a:schemeClr val="accent1"/>
                </a:solidFill>
                <a:latin typeface="+mj-lt" pitchFamily="34" charset="0"/>
                <a:ea typeface="+mj-lt" pitchFamily="34" charset="-122"/>
                <a:cs typeface="+mj-lt" pitchFamily="34" charset="-120"/>
              </a:rPr>
              <a:t>Dec 2026</a:t>
            </a:r>
            <a:endParaRPr lang="en-US" sz="2800" dirty="0"/>
          </a:p>
        </p:txBody>
      </p:sp>
      <p:sp>
        <p:nvSpPr>
          <p:cNvPr id="13" name="milestone-220"/>
          <p:cNvSpPr/>
          <p:nvPr/>
        </p:nvSpPr>
        <p:spPr>
          <a:xfrm>
            <a:off x="7334060" y="1874520"/>
            <a:ext cx="365760" cy="365760"/>
          </a:xfrm>
          <a:prstGeom prst="ellipse">
            <a:avLst/>
          </a:prstGeom>
          <a:solidFill>
            <a:schemeClr val="bg1"/>
          </a:solidFill>
          <a:ln w="38100">
            <a:solidFill>
              <a:schemeClr val="accent2"/>
            </a:solidFill>
            <a:prstDash val="solid"/>
          </a:ln>
        </p:spPr>
      </p:sp>
      <p:sp>
        <p:nvSpPr>
          <p:cNvPr id="14" name="card-221"/>
          <p:cNvSpPr/>
          <p:nvPr/>
        </p:nvSpPr>
        <p:spPr>
          <a:xfrm>
            <a:off x="6233008" y="2377440"/>
            <a:ext cx="2567864" cy="274320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15" name="text-222"/>
          <p:cNvSpPr txBox="1"/>
          <p:nvPr/>
        </p:nvSpPr>
        <p:spPr>
          <a:xfrm>
            <a:off x="6434176" y="2542032"/>
            <a:ext cx="2165528" cy="2487168"/>
          </a:xfrm>
          <a:prstGeom prst="rect">
            <a:avLst/>
          </a:prstGeom>
          <a:noFill/>
          <a:ln/>
        </p:spPr>
        <p:txBody>
          <a:bodyPr wrap="square" lIns="0" tIns="0" rIns="0" bIns="0" rtlCol="0" anchor="t"/>
          <a:lstStyle/>
          <a:p>
            <a:pPr indent="0" marL="0">
              <a:buNone/>
            </a:pPr>
            <a:r>
              <a:rPr lang="en-US" sz="2000" b="1" dirty="0">
                <a:solidFill>
                  <a:schemeClr val="tx1"/>
                </a:solidFill>
              </a:rPr>
              <a:t>End-to-end demo</a:t>
            </a:r>
            <a:endParaRPr lang="en-US" sz="2000" dirty="0"/>
          </a:p>
          <a:p>
            <a:pPr indent="0" marL="0">
              <a:buNone/>
            </a:pPr>
            <a:r>
              <a:rPr lang="en-US" sz="2000" dirty="0">
                <a:solidFill>
                  <a:schemeClr val="tx1"/>
                </a:solidFill>
              </a:rPr>
              <a:t>Voice note to label PDF, costing, batch, checklist and listing in under 3 minutes</a:t>
            </a:r>
            <a:endParaRPr lang="en-US" sz="2000" dirty="0"/>
          </a:p>
        </p:txBody>
      </p:sp>
      <p:sp>
        <p:nvSpPr>
          <p:cNvPr id="16" name="text-223"/>
          <p:cNvSpPr txBox="1"/>
          <p:nvPr/>
        </p:nvSpPr>
        <p:spPr>
          <a:xfrm>
            <a:off x="9075191" y="1280160"/>
            <a:ext cx="2567864" cy="502920"/>
          </a:xfrm>
          <a:prstGeom prst="rect">
            <a:avLst/>
          </a:prstGeom>
          <a:noFill/>
          <a:ln/>
        </p:spPr>
        <p:txBody>
          <a:bodyPr wrap="square" lIns="0" tIns="0" rIns="0" bIns="0" rtlCol="0" anchor="ctr"/>
          <a:lstStyle/>
          <a:p>
            <a:pPr algn="ctr" indent="0" marL="0">
              <a:buNone/>
            </a:pPr>
            <a:r>
              <a:rPr lang="en-US" sz="2800" dirty="0">
                <a:solidFill>
                  <a:schemeClr val="accent1"/>
                </a:solidFill>
                <a:latin typeface="+mj-lt" pitchFamily="34" charset="0"/>
                <a:ea typeface="+mj-lt" pitchFamily="34" charset="-122"/>
                <a:cs typeface="+mj-lt" pitchFamily="34" charset="-120"/>
              </a:rPr>
              <a:t>Next 6 months</a:t>
            </a:r>
            <a:endParaRPr lang="en-US" sz="2800" dirty="0"/>
          </a:p>
        </p:txBody>
      </p:sp>
      <p:sp>
        <p:nvSpPr>
          <p:cNvPr id="17" name="milestone-224"/>
          <p:cNvSpPr/>
          <p:nvPr/>
        </p:nvSpPr>
        <p:spPr>
          <a:xfrm>
            <a:off x="10176243" y="1874520"/>
            <a:ext cx="365760" cy="365760"/>
          </a:xfrm>
          <a:prstGeom prst="ellipse">
            <a:avLst/>
          </a:prstGeom>
          <a:solidFill>
            <a:schemeClr val="bg1"/>
          </a:solidFill>
          <a:ln w="38100">
            <a:solidFill>
              <a:schemeClr val="accent2"/>
            </a:solidFill>
            <a:prstDash val="solid"/>
          </a:ln>
        </p:spPr>
      </p:sp>
      <p:sp>
        <p:nvSpPr>
          <p:cNvPr id="18" name="card-225"/>
          <p:cNvSpPr/>
          <p:nvPr/>
        </p:nvSpPr>
        <p:spPr>
          <a:xfrm>
            <a:off x="9075191" y="2377440"/>
            <a:ext cx="2567864" cy="2743200"/>
          </a:xfrm>
          <a:prstGeom prst="roundRect">
            <a:avLst>
              <a:gd name="adj" fmla="val 4985"/>
            </a:avLst>
          </a:prstGeom>
          <a:solidFill>
            <a:schemeClr val="bg1"/>
          </a:solidFill>
          <a:ln/>
          <a:effectLst>
            <a:outerShdw sx="100000" sy="100000" kx="0" ky="0" algn="bl" rotWithShape="0" blurRad="127000" dist="25400" dir="5400000">
              <a:srgbClr val="1E1B18">
                <a:alpha val="10000"/>
              </a:srgbClr>
            </a:outerShdw>
          </a:effectLst>
        </p:spPr>
      </p:sp>
      <p:sp>
        <p:nvSpPr>
          <p:cNvPr id="19" name="text-226"/>
          <p:cNvSpPr txBox="1"/>
          <p:nvPr/>
        </p:nvSpPr>
        <p:spPr>
          <a:xfrm>
            <a:off x="9276359" y="2542032"/>
            <a:ext cx="2165528" cy="2487168"/>
          </a:xfrm>
          <a:prstGeom prst="rect">
            <a:avLst/>
          </a:prstGeom>
          <a:noFill/>
          <a:ln/>
        </p:spPr>
        <p:txBody>
          <a:bodyPr wrap="square" lIns="0" tIns="0" rIns="0" bIns="0" rtlCol="0" anchor="t"/>
          <a:lstStyle/>
          <a:p>
            <a:pPr indent="0" marL="0">
              <a:buNone/>
            </a:pPr>
            <a:r>
              <a:rPr lang="en-US" sz="2000" b="1" dirty="0">
                <a:solidFill>
                  <a:schemeClr val="tx1"/>
                </a:solidFill>
              </a:rPr>
              <a:t>Pilot</a:t>
            </a:r>
            <a:endParaRPr lang="en-US" sz="2000" dirty="0"/>
          </a:p>
          <a:p>
            <a:pPr indent="0" marL="0">
              <a:buNone/>
            </a:pPr>
            <a:r>
              <a:rPr lang="en-US" sz="2000" dirty="0">
                <a:solidFill>
                  <a:schemeClr val="tx1"/>
                </a:solidFill>
              </a:rPr>
              <a:t>with 50 sellers, WhatsApp live, first buyer-side partnership</a:t>
            </a:r>
            <a:endParaRPr lang="en-US" sz="2000" dirty="0"/>
          </a:p>
        </p:txBody>
      </p:sp>
      <p:sp>
        <p:nvSpPr>
          <p:cNvPr id="20" name="card-227"/>
          <p:cNvSpPr/>
          <p:nvPr/>
        </p:nvSpPr>
        <p:spPr>
          <a:xfrm>
            <a:off x="548640" y="5349240"/>
            <a:ext cx="11094415" cy="822960"/>
          </a:xfrm>
          <a:prstGeom prst="roundRect">
            <a:avLst>
              <a:gd name="adj" fmla="val 15556"/>
            </a:avLst>
          </a:prstGeom>
          <a:solidFill>
            <a:schemeClr val="accent3"/>
          </a:solidFill>
          <a:ln/>
        </p:spPr>
      </p:sp>
      <p:sp>
        <p:nvSpPr>
          <p:cNvPr id="21" name="text-228"/>
          <p:cNvSpPr txBox="1"/>
          <p:nvPr/>
        </p:nvSpPr>
        <p:spPr>
          <a:xfrm>
            <a:off x="868680" y="5349240"/>
            <a:ext cx="10454335" cy="822960"/>
          </a:xfrm>
          <a:prstGeom prst="rect">
            <a:avLst/>
          </a:prstGeom>
          <a:noFill/>
          <a:ln/>
        </p:spPr>
        <p:txBody>
          <a:bodyPr wrap="square" lIns="0" tIns="0" rIns="0" bIns="0" rtlCol="0" anchor="ctr"/>
          <a:lstStyle/>
          <a:p>
            <a:pPr indent="0" marL="0">
              <a:buNone/>
            </a:pPr>
            <a:r>
              <a:rPr lang="en-US" sz="2200" b="1" dirty="0">
                <a:solidFill>
                  <a:schemeClr val="tx1"/>
                </a:solidFill>
              </a:rPr>
              <a:t>Pilot success metric: </a:t>
            </a:r>
            <a:pPr indent="0" marL="0">
              <a:buNone/>
            </a:pPr>
            <a:r>
              <a:rPr lang="en-US" sz="2200" dirty="0">
                <a:solidFill>
                  <a:schemeClr val="tx1"/>
                </a:solidFill>
              </a:rPr>
              <a:t>25 of the 50 pilot sellers with a compliant label and at least one sale beyond their town.</a:t>
            </a:r>
            <a:endParaRPr lang="en-US" sz="22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229"/>
          <p:cNvSpPr txBox="1"/>
          <p:nvPr/>
        </p:nvSpPr>
        <p:spPr>
          <a:xfrm>
            <a:off x="640080" y="731520"/>
            <a:ext cx="10607040" cy="2103120"/>
          </a:xfrm>
          <a:prstGeom prst="rect">
            <a:avLst/>
          </a:prstGeom>
          <a:noFill/>
          <a:ln/>
        </p:spPr>
        <p:txBody>
          <a:bodyPr wrap="square" lIns="0" tIns="0" rIns="0" bIns="0" rtlCol="0" anchor="ctr"/>
          <a:lstStyle/>
          <a:p>
            <a:pPr indent="0" marL="0">
              <a:buNone/>
            </a:pPr>
            <a:r>
              <a:rPr lang="en-US" sz="4400" dirty="0">
                <a:solidFill>
                  <a:schemeClr val="bg2"/>
                </a:solidFill>
                <a:latin typeface="+mj-lt" pitchFamily="34" charset="0"/>
                <a:ea typeface="+mj-lt" pitchFamily="34" charset="-122"/>
                <a:cs typeface="+mj-lt" pitchFamily="34" charset="-120"/>
              </a:rPr>
              <a:t>Every home kitchen in India can be a brand. The paperwork shouldn't be the reason it isn't.</a:t>
            </a:r>
            <a:endParaRPr lang="en-US" sz="4400" dirty="0"/>
          </a:p>
        </p:txBody>
      </p:sp>
      <p:sp>
        <p:nvSpPr>
          <p:cNvPr id="3" name="text-230"/>
          <p:cNvSpPr txBox="1"/>
          <p:nvPr/>
        </p:nvSpPr>
        <p:spPr>
          <a:xfrm>
            <a:off x="640080" y="3200400"/>
            <a:ext cx="731520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WHAT WE'RE LOOKING FOR</a:t>
            </a:r>
            <a:endParaRPr lang="en-US" sz="1400" dirty="0"/>
          </a:p>
        </p:txBody>
      </p:sp>
      <p:sp>
        <p:nvSpPr>
          <p:cNvPr id="4" name="icon-bg-231"/>
          <p:cNvSpPr/>
          <p:nvPr/>
        </p:nvSpPr>
        <p:spPr>
          <a:xfrm>
            <a:off x="640080" y="3703320"/>
            <a:ext cx="566928" cy="566928"/>
          </a:xfrm>
          <a:prstGeom prst="ellipse">
            <a:avLst/>
          </a:prstGeom>
          <a:solidFill>
            <a:schemeClr val="accent2"/>
          </a:solidFill>
          <a:ln/>
        </p:spPr>
      </p:sp>
      <p:pic>
        <p:nvPicPr>
          <p:cNvPr id="5" name="icon-232" descr="Handshake icon">    </p:cNvPr>
          <p:cNvPicPr>
            <a:picLocks noChangeAspect="1"/>
          </p:cNvPicPr>
          <p:nvPr/>
        </p:nvPicPr>
        <p:blipFill>
          <a:blip r:embed="rId1"/>
          <a:stretch>
            <a:fillRect/>
          </a:stretch>
        </p:blipFill>
        <p:spPr>
          <a:xfrm>
            <a:off x="776143" y="3839383"/>
            <a:ext cx="294803" cy="294803"/>
          </a:xfrm>
          <a:prstGeom prst="rect">
            <a:avLst/>
          </a:prstGeom>
        </p:spPr>
      </p:pic>
      <p:sp>
        <p:nvSpPr>
          <p:cNvPr id="6" name="text-233"/>
          <p:cNvSpPr txBox="1"/>
          <p:nvPr/>
        </p:nvSpPr>
        <p:spPr>
          <a:xfrm>
            <a:off x="1417320" y="3703320"/>
            <a:ext cx="9601200" cy="566928"/>
          </a:xfrm>
          <a:prstGeom prst="rect">
            <a:avLst/>
          </a:prstGeom>
          <a:noFill/>
          <a:ln/>
        </p:spPr>
        <p:txBody>
          <a:bodyPr wrap="square" lIns="0" tIns="0" rIns="0" bIns="0" rtlCol="0" anchor="ctr"/>
          <a:lstStyle/>
          <a:p>
            <a:pPr indent="0" marL="0">
              <a:buNone/>
            </a:pPr>
            <a:r>
              <a:rPr lang="en-US" sz="2400" dirty="0">
                <a:solidFill>
                  <a:schemeClr val="bg2"/>
                </a:solidFill>
              </a:rPr>
              <a:t>Pilot partners: SHG federations, retail buyers, ONDC seller apps</a:t>
            </a:r>
            <a:endParaRPr lang="en-US" sz="2400" dirty="0"/>
          </a:p>
        </p:txBody>
      </p:sp>
      <p:sp>
        <p:nvSpPr>
          <p:cNvPr id="7" name="icon-bg-234"/>
          <p:cNvSpPr/>
          <p:nvPr/>
        </p:nvSpPr>
        <p:spPr>
          <a:xfrm>
            <a:off x="640080" y="4480560"/>
            <a:ext cx="566928" cy="566928"/>
          </a:xfrm>
          <a:prstGeom prst="ellipse">
            <a:avLst/>
          </a:prstGeom>
          <a:solidFill>
            <a:schemeClr val="accent2"/>
          </a:solidFill>
          <a:ln/>
        </p:spPr>
      </p:sp>
      <p:pic>
        <p:nvPicPr>
          <p:cNvPr id="8" name="icon-235" descr="BookOpen icon">    </p:cNvPr>
          <p:cNvPicPr>
            <a:picLocks noChangeAspect="1"/>
          </p:cNvPicPr>
          <p:nvPr/>
        </p:nvPicPr>
        <p:blipFill>
          <a:blip r:embed="rId2"/>
          <a:stretch>
            <a:fillRect/>
          </a:stretch>
        </p:blipFill>
        <p:spPr>
          <a:xfrm>
            <a:off x="776143" y="4616623"/>
            <a:ext cx="294803" cy="294803"/>
          </a:xfrm>
          <a:prstGeom prst="rect">
            <a:avLst/>
          </a:prstGeom>
        </p:spPr>
      </p:pic>
      <p:sp>
        <p:nvSpPr>
          <p:cNvPr id="9" name="text-236"/>
          <p:cNvSpPr txBox="1"/>
          <p:nvPr/>
        </p:nvSpPr>
        <p:spPr>
          <a:xfrm>
            <a:off x="1417320" y="4480560"/>
            <a:ext cx="9601200" cy="566928"/>
          </a:xfrm>
          <a:prstGeom prst="rect">
            <a:avLst/>
          </a:prstGeom>
          <a:noFill/>
          <a:ln/>
        </p:spPr>
        <p:txBody>
          <a:bodyPr wrap="square" lIns="0" tIns="0" rIns="0" bIns="0" rtlCol="0" anchor="ctr"/>
          <a:lstStyle/>
          <a:p>
            <a:pPr indent="0" marL="0">
              <a:buNone/>
            </a:pPr>
            <a:r>
              <a:rPr lang="en-US" sz="2400" dirty="0">
                <a:solidFill>
                  <a:schemeClr val="bg2"/>
                </a:solidFill>
              </a:rPr>
              <a:t>Mentorship on food regulation</a:t>
            </a:r>
            <a:endParaRPr lang="en-US" sz="2400" dirty="0"/>
          </a:p>
        </p:txBody>
      </p:sp>
      <p:sp>
        <p:nvSpPr>
          <p:cNvPr id="10" name="text-237"/>
          <p:cNvSpPr txBox="1"/>
          <p:nvPr/>
        </p:nvSpPr>
        <p:spPr>
          <a:xfrm>
            <a:off x="640080" y="5440680"/>
            <a:ext cx="2743200" cy="640080"/>
          </a:xfrm>
          <a:prstGeom prst="rect">
            <a:avLst/>
          </a:prstGeom>
          <a:noFill/>
          <a:ln/>
        </p:spPr>
        <p:txBody>
          <a:bodyPr wrap="square" lIns="0" tIns="0" rIns="0" bIns="0" rtlCol="0" anchor="ctr"/>
          <a:lstStyle/>
          <a:p>
            <a:pPr indent="0" marL="0">
              <a:buNone/>
            </a:pPr>
            <a:r>
              <a:rPr lang="en-US" sz="4000" dirty="0">
                <a:solidFill>
                  <a:schemeClr val="bg2"/>
                </a:solidFill>
                <a:latin typeface="+mj-lt" pitchFamily="34" charset="0"/>
                <a:ea typeface="+mj-lt" pitchFamily="34" charset="-122"/>
                <a:cs typeface="+mj-lt" pitchFamily="34" charset="-120"/>
              </a:rPr>
              <a:t>Ghar</a:t>
            </a:r>
            <a:pPr indent="0" marL="0">
              <a:buNone/>
            </a:pPr>
            <a:r>
              <a:rPr lang="en-US" sz="4000" dirty="0">
                <a:solidFill>
                  <a:schemeClr val="accent2"/>
                </a:solidFill>
                <a:latin typeface="+mj-lt" pitchFamily="34" charset="0"/>
                <a:ea typeface="+mj-lt" pitchFamily="34" charset="-122"/>
                <a:cs typeface="+mj-lt" pitchFamily="34" charset="-120"/>
              </a:rPr>
              <a:t>Se</a:t>
            </a:r>
            <a:endParaRPr lang="en-US" sz="4000" dirty="0"/>
          </a:p>
        </p:txBody>
      </p:sp>
      <p:sp>
        <p:nvSpPr>
          <p:cNvPr id="11" name="text-238"/>
          <p:cNvSpPr txBox="1"/>
          <p:nvPr/>
        </p:nvSpPr>
        <p:spPr>
          <a:xfrm>
            <a:off x="3840480" y="5440680"/>
            <a:ext cx="7802575" cy="640080"/>
          </a:xfrm>
          <a:prstGeom prst="rect">
            <a:avLst/>
          </a:prstGeom>
          <a:noFill/>
          <a:ln/>
        </p:spPr>
        <p:txBody>
          <a:bodyPr wrap="square" lIns="0" tIns="0" rIns="0" bIns="0" rtlCol="0" anchor="ctr"/>
          <a:lstStyle/>
          <a:p>
            <a:pPr algn="r" indent="0" marL="0">
              <a:buNone/>
            </a:pPr>
            <a:r>
              <a:rPr lang="en-US" sz="2000" dirty="0">
                <a:solidFill>
                  <a:schemeClr val="bg2"/>
                </a:solidFill>
              </a:rPr>
              <a:t>adywakes@gmail.com  ·  github.com/AdyWakes/GharSe</a:t>
            </a:r>
            <a:endParaRPr lang="en-US" sz="2000" dirty="0"/>
          </a:p>
        </p:txBody>
      </p:sp>
      <p:sp>
        <p:nvSpPr>
          <p:cNvPr id="25" name="Slide Number Placeholder 0"/>
          <p:cNvSpPr>
            <a:spLocks noGrp="1"/>
          </p:cNvSpPr>
          <p:nvPr>
            <p:ph type="sldNum" sz="quarter" idx="4294967295"/>
          </p:nvPr>
        </p:nvSpPr>
        <p:spPr>
          <a:xfrm>
            <a:off x="10728655" y="6382512"/>
            <a:ext cx="914400" cy="292608"/>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bg2"/>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GharSe">
  <a:themeElements>
    <a:clrScheme name="GharSe">
      <a:dk1>
        <a:srgbClr val="1E1B18"/>
      </a:dk1>
      <a:lt1>
        <a:srgbClr val="FFFFFF"/>
      </a:lt1>
      <a:dk2>
        <a:srgbClr val="5E554D"/>
      </a:dk2>
      <a:lt2>
        <a:srgbClr val="FBF7F0"/>
      </a:lt2>
      <a:accent1>
        <a:srgbClr val="9E2B25"/>
      </a:accent1>
      <a:accent2>
        <a:srgbClr val="E0A526"/>
      </a:accent2>
      <a:accent3>
        <a:srgbClr val="F7E9C6"/>
      </a:accent3>
      <a:accent4>
        <a:srgbClr val="F3DEDA"/>
      </a:accent4>
      <a:accent5>
        <a:srgbClr val="D8CDBF"/>
      </a:accent5>
      <a:accent6>
        <a:srgbClr val="7A1F1A"/>
      </a:accent6>
      <a:hlink>
        <a:srgbClr val="9E2B25"/>
      </a:hlink>
      <a:folHlink>
        <a:srgbClr val="7A1F1A"/>
      </a:folHlink>
    </a:clrScheme>
    <a:fontScheme name="GharSe">
      <a:majorFont>
        <a:latin typeface="DM Serif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GharSe: from home kitchen to store shelf</dc:title>
  <dc:subject>Tech4Bharat, GAVS 2026, Agentic AI track, Problem 6.3</dc:subject>
  <dc:creator>GharSe team</dc:creator>
  <cp:lastModifiedBy>GharSe team</cp:lastModifiedBy>
  <cp:revision>1</cp:revision>
  <dcterms:created xsi:type="dcterms:W3CDTF">2026-10-24T10:56:03Z</dcterms:created>
  <dcterms:modified xsi:type="dcterms:W3CDTF">2026-10-24T10:56:03Z</dcterms:modified>
</cp:coreProperties>
</file>